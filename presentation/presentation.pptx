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sv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4.png"/><Relationship Id="rId5" Type="http://schemas.openxmlformats.org/officeDocument/2006/relationships/image" Target="../media/image-1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image" Target="../media/image-17-4.png"/><Relationship Id="rId5" Type="http://schemas.openxmlformats.org/officeDocument/2006/relationships/image" Target="../media/image-1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image" Target="../media/image-18-4.png"/><Relationship Id="rId5" Type="http://schemas.openxmlformats.org/officeDocument/2006/relationships/image" Target="../media/image-18-5.svg"/><Relationship Id="rId6" Type="http://schemas.openxmlformats.org/officeDocument/2006/relationships/image" Target="../media/image-18-6.png"/><Relationship Id="rId7" Type="http://schemas.openxmlformats.org/officeDocument/2006/relationships/image" Target="../media/image-18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340129" y="222052"/>
            <a:ext cx="130275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PRÉSENTATION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617562"/>
            <a:ext cx="36252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ANNÉE 2025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831056"/>
            <a:ext cx="2969166" cy="62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80" b="1" spc="-170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Prédiction</a:t>
            </a:r>
            <a:endParaRPr lang="en-US" sz="3780" dirty="0"/>
          </a:p>
        </p:txBody>
      </p:sp>
      <p:sp>
        <p:nvSpPr>
          <p:cNvPr id="10" name="Text 7"/>
          <p:cNvSpPr/>
          <p:nvPr/>
        </p:nvSpPr>
        <p:spPr>
          <a:xfrm>
            <a:off x="365745" y="1325463"/>
            <a:ext cx="3535085" cy="62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80" b="1" spc="-170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 risque de</a:t>
            </a:r>
            <a:endParaRPr lang="en-US" sz="3780" dirty="0"/>
          </a:p>
        </p:txBody>
      </p:sp>
      <p:sp>
        <p:nvSpPr>
          <p:cNvPr id="11" name="Text 8"/>
          <p:cNvSpPr/>
          <p:nvPr/>
        </p:nvSpPr>
        <p:spPr>
          <a:xfrm>
            <a:off x="365745" y="1819870"/>
            <a:ext cx="3023339" cy="62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80" b="1" spc="-170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</a:t>
            </a:r>
            <a:endParaRPr lang="en-US" sz="3780" dirty="0"/>
          </a:p>
        </p:txBody>
      </p:sp>
      <p:sp>
        <p:nvSpPr>
          <p:cNvPr id="12" name="Text 9"/>
          <p:cNvSpPr/>
          <p:nvPr/>
        </p:nvSpPr>
        <p:spPr>
          <a:xfrm>
            <a:off x="365745" y="2314277"/>
            <a:ext cx="2905415" cy="62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80" b="1" spc="-170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Guinée</a:t>
            </a:r>
            <a:endParaRPr lang="en-US" sz="3780" dirty="0"/>
          </a:p>
        </p:txBody>
      </p:sp>
      <p:sp>
        <p:nvSpPr>
          <p:cNvPr id="13" name="Text 10"/>
          <p:cNvSpPr/>
          <p:nvPr/>
        </p:nvSpPr>
        <p:spPr>
          <a:xfrm>
            <a:off x="365745" y="3008709"/>
            <a:ext cx="4084461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selon les conditions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environnementales</a:t>
            </a:r>
            <a:endParaRPr lang="en-US" sz="1330" dirty="0"/>
          </a:p>
        </p:txBody>
      </p:sp>
      <p:sp>
        <p:nvSpPr>
          <p:cNvPr id="14" name="Shape 11"/>
          <p:cNvSpPr/>
          <p:nvPr/>
        </p:nvSpPr>
        <p:spPr>
          <a:xfrm>
            <a:off x="365261" y="3809256"/>
            <a:ext cx="366712" cy="952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841177" y="3723084"/>
            <a:ext cx="212260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Méthodologie CRISP-DM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365745" y="4012555"/>
            <a:ext cx="4926084" cy="3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Université Kofi Annan de Guinée | Master 1 — Fouille de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données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5077234" y="1051247"/>
            <a:ext cx="3700463" cy="2933700"/>
          </a:xfrm>
          <a:prstGeom prst="roundRect">
            <a:avLst>
              <a:gd name="adj" fmla="val 4364"/>
            </a:avLst>
          </a:prstGeom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274320" dist="118872" dir="5400000">
              <a:srgbClr val="1E3A5F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97" y="1056010"/>
            <a:ext cx="3690937" cy="2924175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997" y="1056010"/>
            <a:ext cx="3690937" cy="292417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283584" y="2981548"/>
            <a:ext cx="1762125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5364807" y="3027090"/>
            <a:ext cx="21367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DONNÉES SYNTHÉTIQUES</a:t>
            </a:r>
            <a:endParaRPr lang="en-US" sz="970" dirty="0"/>
          </a:p>
        </p:txBody>
      </p:sp>
      <p:sp>
        <p:nvSpPr>
          <p:cNvPr id="22" name="Text 17"/>
          <p:cNvSpPr/>
          <p:nvPr/>
        </p:nvSpPr>
        <p:spPr>
          <a:xfrm>
            <a:off x="5282580" y="3310988"/>
            <a:ext cx="429099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Anticiper les périodes à risque à</a:t>
            </a:r>
            <a:endParaRPr lang="en-US" sz="162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partir de l'environnement</a:t>
            </a:r>
            <a:endParaRPr lang="en-US" sz="1620" dirty="0"/>
          </a:p>
        </p:txBody>
      </p:sp>
      <p:sp>
        <p:nvSpPr>
          <p:cNvPr id="23" name="Text 18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24" name="Text 19"/>
          <p:cNvSpPr/>
          <p:nvPr/>
        </p:nvSpPr>
        <p:spPr>
          <a:xfrm>
            <a:off x="8344570" y="4630936"/>
            <a:ext cx="62094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01</a:t>
            </a:r>
            <a:endParaRPr lang="en-US" sz="94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6892454" y="222052"/>
            <a:ext cx="188473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SYNTHÈSE EXÉCUTIVE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778892"/>
            <a:ext cx="275276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RETENIR EN UNE MINUTE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366415" y="1043732"/>
            <a:ext cx="4424362" cy="1076325"/>
          </a:xfrm>
          <a:prstGeom prst="roundRect">
            <a:avLst>
              <a:gd name="adj" fmla="val 9770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802" y="1268239"/>
            <a:ext cx="2372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OBSERVATIONS ANALYSÉES</a:t>
            </a:r>
            <a:endParaRPr lang="en-US" sz="970" dirty="0"/>
          </a:p>
        </p:txBody>
      </p:sp>
      <p:sp>
        <p:nvSpPr>
          <p:cNvPr id="11" name="Text 8"/>
          <p:cNvSpPr/>
          <p:nvPr/>
        </p:nvSpPr>
        <p:spPr>
          <a:xfrm>
            <a:off x="580802" y="1429345"/>
            <a:ext cx="1546049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3310" b="1" spc="-166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</a:t>
            </a:r>
            <a:endParaRPr lang="en-US" sz="3310" dirty="0"/>
          </a:p>
        </p:txBody>
      </p:sp>
      <p:sp>
        <p:nvSpPr>
          <p:cNvPr id="12" name="Shape 9"/>
          <p:cNvSpPr/>
          <p:nvPr/>
        </p:nvSpPr>
        <p:spPr>
          <a:xfrm>
            <a:off x="4091174" y="1647974"/>
            <a:ext cx="485775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173959" y="1693515"/>
            <a:ext cx="47341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366712" y="2234245"/>
            <a:ext cx="1400175" cy="957263"/>
          </a:xfrm>
          <a:prstGeom prst="roundRect">
            <a:avLst>
              <a:gd name="adj" fmla="val 1098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7653" y="2384673"/>
            <a:ext cx="81896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RÉGIONS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507653" y="2640285"/>
            <a:ext cx="29831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30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2300" dirty="0"/>
          </a:p>
        </p:txBody>
      </p:sp>
      <p:sp>
        <p:nvSpPr>
          <p:cNvPr id="17" name="Shape 14"/>
          <p:cNvSpPr/>
          <p:nvPr/>
        </p:nvSpPr>
        <p:spPr>
          <a:xfrm>
            <a:off x="1878509" y="2234245"/>
            <a:ext cx="1400175" cy="957263"/>
          </a:xfrm>
          <a:prstGeom prst="roundRect">
            <a:avLst>
              <a:gd name="adj" fmla="val 1098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019449" y="2384673"/>
            <a:ext cx="12402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PRÉFECTURES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2019449" y="2640285"/>
            <a:ext cx="53648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30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</a:t>
            </a:r>
            <a:endParaRPr lang="en-US" sz="2300" dirty="0"/>
          </a:p>
        </p:txBody>
      </p:sp>
      <p:sp>
        <p:nvSpPr>
          <p:cNvPr id="20" name="Shape 17"/>
          <p:cNvSpPr/>
          <p:nvPr/>
        </p:nvSpPr>
        <p:spPr>
          <a:xfrm>
            <a:off x="3390305" y="2234245"/>
            <a:ext cx="1400175" cy="957263"/>
          </a:xfrm>
          <a:prstGeom prst="roundRect">
            <a:avLst>
              <a:gd name="adj" fmla="val 1098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531245" y="2384673"/>
            <a:ext cx="82196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CLASSES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3531245" y="2640285"/>
            <a:ext cx="2872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30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300" dirty="0"/>
          </a:p>
        </p:txBody>
      </p:sp>
      <p:sp>
        <p:nvSpPr>
          <p:cNvPr id="23" name="Shape 20"/>
          <p:cNvSpPr/>
          <p:nvPr/>
        </p:nvSpPr>
        <p:spPr>
          <a:xfrm>
            <a:off x="366043" y="3304952"/>
            <a:ext cx="2157413" cy="1233488"/>
          </a:xfrm>
          <a:prstGeom prst="roundRect">
            <a:avLst>
              <a:gd name="adj" fmla="val 852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16806" y="3466207"/>
            <a:ext cx="194557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MEILLEUR F1 PONDÉRÉ</a:t>
            </a:r>
            <a:endParaRPr lang="en-US" sz="970" dirty="0"/>
          </a:p>
        </p:txBody>
      </p:sp>
      <p:sp>
        <p:nvSpPr>
          <p:cNvPr id="25" name="Text 22"/>
          <p:cNvSpPr/>
          <p:nvPr/>
        </p:nvSpPr>
        <p:spPr>
          <a:xfrm>
            <a:off x="516806" y="3721819"/>
            <a:ext cx="120562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5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0,928</a:t>
            </a:r>
            <a:endParaRPr lang="en-US" sz="2520" dirty="0"/>
          </a:p>
        </p:txBody>
      </p:sp>
      <p:sp>
        <p:nvSpPr>
          <p:cNvPr id="26" name="Text 23"/>
          <p:cNvSpPr/>
          <p:nvPr/>
        </p:nvSpPr>
        <p:spPr>
          <a:xfrm>
            <a:off x="516806" y="4209604"/>
            <a:ext cx="78133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</a:t>
            </a:r>
            <a:endParaRPr lang="en-US" sz="1040" dirty="0"/>
          </a:p>
        </p:txBody>
      </p:sp>
      <p:sp>
        <p:nvSpPr>
          <p:cNvPr id="27" name="Shape 24"/>
          <p:cNvSpPr/>
          <p:nvPr/>
        </p:nvSpPr>
        <p:spPr>
          <a:xfrm>
            <a:off x="2633737" y="3304952"/>
            <a:ext cx="2157413" cy="1233488"/>
          </a:xfrm>
          <a:prstGeom prst="roundRect">
            <a:avLst>
              <a:gd name="adj" fmla="val 852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784500" y="3466207"/>
            <a:ext cx="196337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NATURE DES DONNÉES</a:t>
            </a:r>
            <a:endParaRPr lang="en-US" sz="970" dirty="0"/>
          </a:p>
        </p:txBody>
      </p:sp>
      <p:sp>
        <p:nvSpPr>
          <p:cNvPr id="29" name="Text 26"/>
          <p:cNvSpPr/>
          <p:nvPr/>
        </p:nvSpPr>
        <p:spPr>
          <a:xfrm>
            <a:off x="2784500" y="3688482"/>
            <a:ext cx="163233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Synthétiques</a:t>
            </a:r>
            <a:endParaRPr lang="en-US" sz="1440" dirty="0"/>
          </a:p>
        </p:txBody>
      </p:sp>
      <p:sp>
        <p:nvSpPr>
          <p:cNvPr id="30" name="Text 27"/>
          <p:cNvSpPr/>
          <p:nvPr/>
        </p:nvSpPr>
        <p:spPr>
          <a:xfrm>
            <a:off x="2784500" y="3958158"/>
            <a:ext cx="2165754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 une mesure sanitaire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officielle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157974" y="1042876"/>
            <a:ext cx="3619500" cy="3495675"/>
          </a:xfrm>
          <a:prstGeom prst="roundRect">
            <a:avLst>
              <a:gd name="adj" fmla="val 3008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363096" y="1259086"/>
            <a:ext cx="175355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MESSAGE CENTRAL</a:t>
            </a:r>
            <a:endParaRPr lang="en-US" sz="970" dirty="0"/>
          </a:p>
        </p:txBody>
      </p:sp>
      <p:sp>
        <p:nvSpPr>
          <p:cNvPr id="33" name="Text 30"/>
          <p:cNvSpPr/>
          <p:nvPr/>
        </p:nvSpPr>
        <p:spPr>
          <a:xfrm>
            <a:off x="5363096" y="1391841"/>
            <a:ext cx="2667439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méthode</a:t>
            </a:r>
            <a:endParaRPr lang="en-US" sz="2560" dirty="0"/>
          </a:p>
        </p:txBody>
      </p:sp>
      <p:sp>
        <p:nvSpPr>
          <p:cNvPr id="34" name="Text 31"/>
          <p:cNvSpPr/>
          <p:nvPr/>
        </p:nvSpPr>
        <p:spPr>
          <a:xfrm>
            <a:off x="5363096" y="1732657"/>
            <a:ext cx="2938306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solide avant un</a:t>
            </a:r>
            <a:endParaRPr lang="en-US" sz="2560" dirty="0"/>
          </a:p>
        </p:txBody>
      </p:sp>
      <p:sp>
        <p:nvSpPr>
          <p:cNvPr id="35" name="Text 32"/>
          <p:cNvSpPr/>
          <p:nvPr/>
        </p:nvSpPr>
        <p:spPr>
          <a:xfrm>
            <a:off x="5363096" y="2073473"/>
            <a:ext cx="3496583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complexe</a:t>
            </a:r>
            <a:endParaRPr lang="en-US" sz="2560" dirty="0"/>
          </a:p>
        </p:txBody>
      </p:sp>
      <p:sp>
        <p:nvSpPr>
          <p:cNvPr id="36" name="Shape 33"/>
          <p:cNvSpPr/>
          <p:nvPr/>
        </p:nvSpPr>
        <p:spPr>
          <a:xfrm>
            <a:off x="5362129" y="2612343"/>
            <a:ext cx="733425" cy="238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4"/>
          <p:cNvSpPr/>
          <p:nvPr/>
        </p:nvSpPr>
        <p:spPr>
          <a:xfrm>
            <a:off x="5363096" y="2796108"/>
            <a:ext cx="4038607" cy="115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scores sont élevés sur ce jeu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synthétique. La valeur du projet réside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surtout dans la qualité du protocole, la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prévention de la fuite de données et la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transparence sur les limites.</a:t>
            </a:r>
            <a:endParaRPr lang="en-US" sz="1330" dirty="0"/>
          </a:p>
        </p:txBody>
      </p:sp>
      <p:sp>
        <p:nvSpPr>
          <p:cNvPr id="38" name="Text 35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8319715" y="4630936"/>
            <a:ext cx="65325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02</a:t>
            </a:r>
            <a:endParaRPr lang="en-US" sz="94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6664747" y="222052"/>
            <a:ext cx="218074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COMPRÉHENSION MÉTIER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1459409"/>
            <a:ext cx="22316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QUESTION MÉTIER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1619622"/>
            <a:ext cx="3578036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 estimer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1960438"/>
            <a:ext cx="3620698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niveau de risque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365745" y="2301255"/>
            <a:ext cx="2769595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 période et</a:t>
            </a:r>
            <a:endParaRPr lang="en-US" sz="2560" dirty="0"/>
          </a:p>
        </p:txBody>
      </p:sp>
      <p:sp>
        <p:nvSpPr>
          <p:cNvPr id="12" name="Text 9"/>
          <p:cNvSpPr/>
          <p:nvPr/>
        </p:nvSpPr>
        <p:spPr>
          <a:xfrm>
            <a:off x="365745" y="2642071"/>
            <a:ext cx="2793199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 territoire ?</a:t>
            </a:r>
            <a:endParaRPr lang="en-US" sz="2560" dirty="0"/>
          </a:p>
        </p:txBody>
      </p:sp>
      <p:sp>
        <p:nvSpPr>
          <p:cNvPr id="13" name="Shape 10"/>
          <p:cNvSpPr/>
          <p:nvPr/>
        </p:nvSpPr>
        <p:spPr>
          <a:xfrm>
            <a:off x="366154" y="3180011"/>
            <a:ext cx="3638550" cy="700088"/>
          </a:xfrm>
          <a:prstGeom prst="rect">
            <a:avLst/>
          </a:prstGeom>
          <a:ln/>
        </p:spPr>
      </p:sp>
      <p:sp>
        <p:nvSpPr>
          <p:cNvPr id="14" name="Text 11"/>
          <p:cNvSpPr/>
          <p:nvPr/>
        </p:nvSpPr>
        <p:spPr>
          <a:xfrm>
            <a:off x="531465" y="3184773"/>
            <a:ext cx="450653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estimation exploratoire pour aider un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centre de santé à anticiper les périodes de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forte demande.</a:t>
            </a:r>
            <a:endParaRPr lang="en-US" sz="1330" dirty="0"/>
          </a:p>
        </p:txBody>
      </p:sp>
      <p:sp>
        <p:nvSpPr>
          <p:cNvPr id="15" name="Shape 12"/>
          <p:cNvSpPr/>
          <p:nvPr/>
        </p:nvSpPr>
        <p:spPr>
          <a:xfrm>
            <a:off x="4553955" y="512118"/>
            <a:ext cx="2043113" cy="1509712"/>
          </a:xfrm>
          <a:prstGeom prst="roundRect">
            <a:avLst>
              <a:gd name="adj" fmla="val 696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22986" y="705296"/>
            <a:ext cx="440524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160" dirty="0"/>
          </a:p>
        </p:txBody>
      </p:sp>
      <p:sp>
        <p:nvSpPr>
          <p:cNvPr id="17" name="Text 14"/>
          <p:cNvSpPr/>
          <p:nvPr/>
        </p:nvSpPr>
        <p:spPr>
          <a:xfrm>
            <a:off x="4722986" y="1210047"/>
            <a:ext cx="109853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Anticiper</a:t>
            </a:r>
            <a:endParaRPr lang="en-US" sz="1370" dirty="0"/>
          </a:p>
        </p:txBody>
      </p:sp>
      <p:sp>
        <p:nvSpPr>
          <p:cNvPr id="18" name="Text 15"/>
          <p:cNvSpPr/>
          <p:nvPr/>
        </p:nvSpPr>
        <p:spPr>
          <a:xfrm>
            <a:off x="4722986" y="1503015"/>
            <a:ext cx="2217606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pics de consultation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dans les centres de santé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6734770" y="512118"/>
            <a:ext cx="2043113" cy="1509712"/>
          </a:xfrm>
          <a:prstGeom prst="roundRect">
            <a:avLst>
              <a:gd name="adj" fmla="val 696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03765" y="705296"/>
            <a:ext cx="513464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160" dirty="0"/>
          </a:p>
        </p:txBody>
      </p:sp>
      <p:sp>
        <p:nvSpPr>
          <p:cNvPr id="21" name="Text 18"/>
          <p:cNvSpPr/>
          <p:nvPr/>
        </p:nvSpPr>
        <p:spPr>
          <a:xfrm>
            <a:off x="6903765" y="1210047"/>
            <a:ext cx="102791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Préparer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6903765" y="1503015"/>
            <a:ext cx="2147374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stocks de tests et de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traitements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4553955" y="2158826"/>
            <a:ext cx="2043113" cy="1509712"/>
          </a:xfrm>
          <a:prstGeom prst="roundRect">
            <a:avLst>
              <a:gd name="adj" fmla="val 696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722986" y="2352005"/>
            <a:ext cx="52468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160" dirty="0"/>
          </a:p>
        </p:txBody>
      </p:sp>
      <p:sp>
        <p:nvSpPr>
          <p:cNvPr id="25" name="Text 22"/>
          <p:cNvSpPr/>
          <p:nvPr/>
        </p:nvSpPr>
        <p:spPr>
          <a:xfrm>
            <a:off x="4722986" y="2856756"/>
            <a:ext cx="114681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Organiser</a:t>
            </a:r>
            <a:endParaRPr lang="en-US" sz="1370" dirty="0"/>
          </a:p>
        </p:txBody>
      </p:sp>
      <p:sp>
        <p:nvSpPr>
          <p:cNvPr id="26" name="Text 23"/>
          <p:cNvSpPr/>
          <p:nvPr/>
        </p:nvSpPr>
        <p:spPr>
          <a:xfrm>
            <a:off x="4722986" y="3149724"/>
            <a:ext cx="2063308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équipes en fonction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 niveau de risque</a:t>
            </a:r>
            <a:endParaRPr lang="en-US" sz="1040" dirty="0"/>
          </a:p>
        </p:txBody>
      </p:sp>
      <p:sp>
        <p:nvSpPr>
          <p:cNvPr id="27" name="Shape 24"/>
          <p:cNvSpPr/>
          <p:nvPr/>
        </p:nvSpPr>
        <p:spPr>
          <a:xfrm>
            <a:off x="6734770" y="2158826"/>
            <a:ext cx="2043113" cy="1509712"/>
          </a:xfrm>
          <a:prstGeom prst="roundRect">
            <a:avLst>
              <a:gd name="adj" fmla="val 696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903765" y="2352005"/>
            <a:ext cx="54248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160" dirty="0"/>
          </a:p>
        </p:txBody>
      </p:sp>
      <p:sp>
        <p:nvSpPr>
          <p:cNvPr id="29" name="Text 26"/>
          <p:cNvSpPr/>
          <p:nvPr/>
        </p:nvSpPr>
        <p:spPr>
          <a:xfrm>
            <a:off x="6903765" y="2856756"/>
            <a:ext cx="133922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Sensibiliser</a:t>
            </a:r>
            <a:endParaRPr lang="en-US" sz="1370" dirty="0"/>
          </a:p>
        </p:txBody>
      </p:sp>
      <p:sp>
        <p:nvSpPr>
          <p:cNvPr id="30" name="Text 27"/>
          <p:cNvSpPr/>
          <p:nvPr/>
        </p:nvSpPr>
        <p:spPr>
          <a:xfrm>
            <a:off x="6903765" y="3149724"/>
            <a:ext cx="2022195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Renforcer les actions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locales au bon moment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4553769" y="3804531"/>
            <a:ext cx="4224337" cy="1014413"/>
          </a:xfrm>
          <a:prstGeom prst="roundRect">
            <a:avLst>
              <a:gd name="adj" fmla="val 10366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22875" y="3974827"/>
            <a:ext cx="1181100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4805214" y="4020369"/>
            <a:ext cx="13784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CADRE D'USAGE</a:t>
            </a:r>
            <a:endParaRPr lang="en-US" sz="970" dirty="0"/>
          </a:p>
        </p:txBody>
      </p:sp>
      <p:sp>
        <p:nvSpPr>
          <p:cNvPr id="34" name="Text 31"/>
          <p:cNvSpPr/>
          <p:nvPr/>
        </p:nvSpPr>
        <p:spPr>
          <a:xfrm>
            <a:off x="4722986" y="4299124"/>
            <a:ext cx="5104083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modèle est une aide à l'anticipation, jamais un diagnostic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médical</a:t>
            </a:r>
            <a:endParaRPr lang="en-US" sz="1040" dirty="0"/>
          </a:p>
        </p:txBody>
      </p:sp>
      <p:sp>
        <p:nvSpPr>
          <p:cNvPr id="35" name="Text 32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6" name="Text 33"/>
          <p:cNvSpPr/>
          <p:nvPr/>
        </p:nvSpPr>
        <p:spPr>
          <a:xfrm>
            <a:off x="8316144" y="4630936"/>
            <a:ext cx="6578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03</a:t>
            </a:r>
            <a:endParaRPr lang="en-US" sz="94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154" y="3180011"/>
            <a:ext cx="3638550" cy="700088"/>
          </a:xfrm>
          <a:prstGeom prst="rect">
            <a:avLst/>
          </a:prstGeom>
        </p:spPr>
      </p:pic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256190" y="222052"/>
            <a:ext cx="141187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MÉTHODOLOGIE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727397"/>
            <a:ext cx="46678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DÉMARCHE CRISP-DM DE BOUT EN BOUT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887611"/>
            <a:ext cx="7388267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 besoin métier à la validation terrain</a:t>
            </a:r>
            <a:endParaRPr lang="en-US" sz="2560" dirty="0"/>
          </a:p>
        </p:txBody>
      </p:sp>
      <p:sp>
        <p:nvSpPr>
          <p:cNvPr id="10" name="Shape 7"/>
          <p:cNvSpPr/>
          <p:nvPr/>
        </p:nvSpPr>
        <p:spPr>
          <a:xfrm>
            <a:off x="364778" y="1527423"/>
            <a:ext cx="2714625" cy="1414463"/>
          </a:xfrm>
          <a:prstGeom prst="roundRect">
            <a:avLst>
              <a:gd name="adj" fmla="val 7434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5884" y="1712416"/>
            <a:ext cx="41498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020" dirty="0"/>
          </a:p>
        </p:txBody>
      </p:sp>
      <p:sp>
        <p:nvSpPr>
          <p:cNvPr id="12" name="Text 9"/>
          <p:cNvSpPr/>
          <p:nvPr/>
        </p:nvSpPr>
        <p:spPr>
          <a:xfrm>
            <a:off x="525884" y="2158901"/>
            <a:ext cx="242114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Compréhension métier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525884" y="2431256"/>
            <a:ext cx="238660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Définir la décision à éclairer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3214650" y="1527423"/>
            <a:ext cx="2714625" cy="1414463"/>
          </a:xfrm>
          <a:prstGeom prst="roundRect">
            <a:avLst>
              <a:gd name="adj" fmla="val 7434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75720" y="1712416"/>
            <a:ext cx="48299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020" dirty="0"/>
          </a:p>
        </p:txBody>
      </p:sp>
      <p:sp>
        <p:nvSpPr>
          <p:cNvPr id="16" name="Text 13"/>
          <p:cNvSpPr/>
          <p:nvPr/>
        </p:nvSpPr>
        <p:spPr>
          <a:xfrm>
            <a:off x="3375720" y="2158901"/>
            <a:ext cx="304675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Compréhension des données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3375720" y="2431256"/>
            <a:ext cx="280306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Auditer le périmètre et la qualité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6064560" y="1527423"/>
            <a:ext cx="2714625" cy="1414463"/>
          </a:xfrm>
          <a:prstGeom prst="roundRect">
            <a:avLst>
              <a:gd name="adj" fmla="val 7434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25629" y="1712416"/>
            <a:ext cx="49344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020" dirty="0"/>
          </a:p>
        </p:txBody>
      </p:sp>
      <p:sp>
        <p:nvSpPr>
          <p:cNvPr id="20" name="Text 17"/>
          <p:cNvSpPr/>
          <p:nvPr/>
        </p:nvSpPr>
        <p:spPr>
          <a:xfrm>
            <a:off x="6225629" y="2158901"/>
            <a:ext cx="126734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Préparation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6225629" y="2431256"/>
            <a:ext cx="2814675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Transformer, encoder et éviter la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fuite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364778" y="3076947"/>
            <a:ext cx="2714625" cy="1414463"/>
          </a:xfrm>
          <a:prstGeom prst="roundRect">
            <a:avLst>
              <a:gd name="adj" fmla="val 7434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25884" y="3261940"/>
            <a:ext cx="51007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020" dirty="0"/>
          </a:p>
        </p:txBody>
      </p:sp>
      <p:sp>
        <p:nvSpPr>
          <p:cNvPr id="24" name="Text 21"/>
          <p:cNvSpPr/>
          <p:nvPr/>
        </p:nvSpPr>
        <p:spPr>
          <a:xfrm>
            <a:off x="525884" y="3708425"/>
            <a:ext cx="138333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Modélisation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525884" y="3980780"/>
            <a:ext cx="2384770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Comparer trois algorithmes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multiclasses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3214650" y="3076947"/>
            <a:ext cx="2714625" cy="1414463"/>
          </a:xfrm>
          <a:prstGeom prst="roundRect">
            <a:avLst>
              <a:gd name="adj" fmla="val 7434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375720" y="3261940"/>
            <a:ext cx="49914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2020" dirty="0"/>
          </a:p>
        </p:txBody>
      </p:sp>
      <p:sp>
        <p:nvSpPr>
          <p:cNvPr id="28" name="Text 25"/>
          <p:cNvSpPr/>
          <p:nvPr/>
        </p:nvSpPr>
        <p:spPr>
          <a:xfrm>
            <a:off x="3375720" y="3708425"/>
            <a:ext cx="112543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Évaluation</a:t>
            </a:r>
            <a:endParaRPr lang="en-US" sz="1260" dirty="0"/>
          </a:p>
        </p:txBody>
      </p:sp>
      <p:sp>
        <p:nvSpPr>
          <p:cNvPr id="29" name="Text 26"/>
          <p:cNvSpPr/>
          <p:nvPr/>
        </p:nvSpPr>
        <p:spPr>
          <a:xfrm>
            <a:off x="3375720" y="3980780"/>
            <a:ext cx="2993447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Privilégier des métriques adaptées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 risque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6064560" y="3076947"/>
            <a:ext cx="2714625" cy="1414463"/>
          </a:xfrm>
          <a:prstGeom prst="roundRect">
            <a:avLst>
              <a:gd name="adj" fmla="val 7434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225629" y="3261940"/>
            <a:ext cx="50311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2020" dirty="0"/>
          </a:p>
        </p:txBody>
      </p:sp>
      <p:sp>
        <p:nvSpPr>
          <p:cNvPr id="32" name="Text 29"/>
          <p:cNvSpPr/>
          <p:nvPr/>
        </p:nvSpPr>
        <p:spPr>
          <a:xfrm>
            <a:off x="6225629" y="3708425"/>
            <a:ext cx="150687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Interprétation</a:t>
            </a:r>
            <a:endParaRPr lang="en-US" sz="1260" dirty="0"/>
          </a:p>
        </p:txBody>
      </p:sp>
      <p:sp>
        <p:nvSpPr>
          <p:cNvPr id="33" name="Text 30"/>
          <p:cNvSpPr/>
          <p:nvPr/>
        </p:nvSpPr>
        <p:spPr>
          <a:xfrm>
            <a:off x="6225629" y="3980780"/>
            <a:ext cx="253568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Préparer une validation réelle</a:t>
            </a:r>
            <a:endParaRPr lang="en-US" sz="1040" dirty="0"/>
          </a:p>
        </p:txBody>
      </p:sp>
      <p:sp>
        <p:nvSpPr>
          <p:cNvPr id="34" name="Shape 31"/>
          <p:cNvSpPr/>
          <p:nvPr/>
        </p:nvSpPr>
        <p:spPr>
          <a:xfrm>
            <a:off x="365261" y="4777457"/>
            <a:ext cx="366712" cy="952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871" y="4691286"/>
            <a:ext cx="401084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chaîne reproductible, lisible et contrôlable</a:t>
            </a:r>
            <a:endParaRPr lang="en-US" sz="1040" dirty="0"/>
          </a:p>
        </p:txBody>
      </p:sp>
      <p:sp>
        <p:nvSpPr>
          <p:cNvPr id="36" name="Text 33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7" name="Text 34"/>
          <p:cNvSpPr/>
          <p:nvPr/>
        </p:nvSpPr>
        <p:spPr>
          <a:xfrm>
            <a:off x="8310562" y="4630936"/>
            <a:ext cx="6651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04</a:t>
            </a:r>
            <a:endParaRPr lang="en-US" sz="94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681317" y="222052"/>
            <a:ext cx="85920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DONNÉES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2061939"/>
            <a:ext cx="33256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PÉRIMÈTRE DU JEU DE DONNÉES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2222153"/>
            <a:ext cx="3025371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année, huit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2562969"/>
            <a:ext cx="2816996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régions, 5 000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365745" y="2903786"/>
            <a:ext cx="2566348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observations</a:t>
            </a:r>
            <a:endParaRPr lang="en-US" sz="2560" dirty="0"/>
          </a:p>
        </p:txBody>
      </p:sp>
      <p:sp>
        <p:nvSpPr>
          <p:cNvPr id="12" name="Text 9"/>
          <p:cNvSpPr/>
          <p:nvPr/>
        </p:nvSpPr>
        <p:spPr>
          <a:xfrm>
            <a:off x="365745" y="3410471"/>
            <a:ext cx="441936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fichier synthétique préparé pour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l'exercice, avec une couverture temporelle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complète de 2025.</a:t>
            </a:r>
            <a:endParaRPr lang="en-US" sz="1330" dirty="0"/>
          </a:p>
        </p:txBody>
      </p:sp>
      <p:sp>
        <p:nvSpPr>
          <p:cNvPr id="13" name="Shape 10"/>
          <p:cNvSpPr/>
          <p:nvPr/>
        </p:nvSpPr>
        <p:spPr>
          <a:xfrm>
            <a:off x="4152193" y="513197"/>
            <a:ext cx="2243138" cy="1614488"/>
          </a:xfrm>
          <a:prstGeom prst="roundRect">
            <a:avLst>
              <a:gd name="adj" fmla="val 6513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338935" y="709315"/>
            <a:ext cx="1806855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LIGNES × COLONNES</a:t>
            </a:r>
            <a:endParaRPr lang="en-US" sz="97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D'ORIGINE</a:t>
            </a:r>
            <a:endParaRPr lang="en-US" sz="970" dirty="0"/>
          </a:p>
        </p:txBody>
      </p:sp>
      <p:sp>
        <p:nvSpPr>
          <p:cNvPr id="15" name="Text 12"/>
          <p:cNvSpPr/>
          <p:nvPr/>
        </p:nvSpPr>
        <p:spPr>
          <a:xfrm>
            <a:off x="4338935" y="1065833"/>
            <a:ext cx="1936968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3310" b="1" spc="-166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×</a:t>
            </a:r>
            <a:endParaRPr lang="en-US" sz="3310" dirty="0"/>
          </a:p>
        </p:txBody>
      </p:sp>
      <p:sp>
        <p:nvSpPr>
          <p:cNvPr id="16" name="Text 13"/>
          <p:cNvSpPr/>
          <p:nvPr/>
        </p:nvSpPr>
        <p:spPr>
          <a:xfrm>
            <a:off x="4338935" y="1465362"/>
            <a:ext cx="672792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3310" b="1" spc="-166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</a:t>
            </a:r>
            <a:endParaRPr lang="en-US" sz="3310" dirty="0"/>
          </a:p>
        </p:txBody>
      </p:sp>
      <p:sp>
        <p:nvSpPr>
          <p:cNvPr id="17" name="Shape 14"/>
          <p:cNvSpPr/>
          <p:nvPr/>
        </p:nvSpPr>
        <p:spPr>
          <a:xfrm>
            <a:off x="6534224" y="513197"/>
            <a:ext cx="2243138" cy="1614488"/>
          </a:xfrm>
          <a:prstGeom prst="roundRect">
            <a:avLst>
              <a:gd name="adj" fmla="val 6513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20929" y="709315"/>
            <a:ext cx="174939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PÉRIODE COUVERTE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6720929" y="952109"/>
            <a:ext cx="1938516" cy="5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9"/>
              </a:lnSpc>
              <a:buNone/>
            </a:pPr>
            <a:r>
              <a:rPr lang="en-US" sz="158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jan.</a:t>
            </a:r>
            <a:endParaRPr lang="en-US" sz="1580" dirty="0"/>
          </a:p>
          <a:p>
            <a:pPr algn="l" indent="0" marL="0">
              <a:lnSpc>
                <a:spcPts val="1979"/>
              </a:lnSpc>
              <a:buNone/>
            </a:pPr>
            <a:r>
              <a:rPr lang="en-US" sz="158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31 déc. 2025</a:t>
            </a:r>
            <a:endParaRPr lang="en-US" sz="1580" dirty="0"/>
          </a:p>
        </p:txBody>
      </p:sp>
      <p:sp>
        <p:nvSpPr>
          <p:cNvPr id="20" name="Shape 17"/>
          <p:cNvSpPr/>
          <p:nvPr/>
        </p:nvSpPr>
        <p:spPr>
          <a:xfrm>
            <a:off x="4152193" y="2265611"/>
            <a:ext cx="2243138" cy="1766887"/>
          </a:xfrm>
          <a:prstGeom prst="roundRect">
            <a:avLst>
              <a:gd name="adj" fmla="val 5951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338935" y="2462957"/>
            <a:ext cx="240479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RÉGIONS ADMINISTRATIVES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4338935" y="2743870"/>
            <a:ext cx="373678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30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3020" dirty="0"/>
          </a:p>
        </p:txBody>
      </p:sp>
      <p:sp>
        <p:nvSpPr>
          <p:cNvPr id="23" name="Text 20"/>
          <p:cNvSpPr/>
          <p:nvPr/>
        </p:nvSpPr>
        <p:spPr>
          <a:xfrm>
            <a:off x="4338935" y="3322886"/>
            <a:ext cx="2105873" cy="520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Conakry · Boké · Kindia ·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Labé · Mamou · Faranah ·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Kankan · Nzérékoré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534224" y="2265611"/>
            <a:ext cx="2243138" cy="1766887"/>
          </a:xfrm>
          <a:prstGeom prst="roundRect">
            <a:avLst>
              <a:gd name="adj" fmla="val 5951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720929" y="2462957"/>
            <a:ext cx="234046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PRÉFECTURES / LOCALITÉS</a:t>
            </a:r>
            <a:endParaRPr lang="en-US" sz="970" dirty="0"/>
          </a:p>
        </p:txBody>
      </p:sp>
      <p:sp>
        <p:nvSpPr>
          <p:cNvPr id="26" name="Text 23"/>
          <p:cNvSpPr/>
          <p:nvPr/>
        </p:nvSpPr>
        <p:spPr>
          <a:xfrm>
            <a:off x="6720929" y="2743870"/>
            <a:ext cx="686142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30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</a:t>
            </a:r>
            <a:endParaRPr lang="en-US" sz="3020" dirty="0"/>
          </a:p>
        </p:txBody>
      </p:sp>
      <p:sp>
        <p:nvSpPr>
          <p:cNvPr id="27" name="Text 24"/>
          <p:cNvSpPr/>
          <p:nvPr/>
        </p:nvSpPr>
        <p:spPr>
          <a:xfrm>
            <a:off x="6720929" y="3322886"/>
            <a:ext cx="2426464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365 dates distinctes dans le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4152193" y="4169532"/>
            <a:ext cx="2243138" cy="1476375"/>
          </a:xfrm>
          <a:prstGeom prst="roundRect">
            <a:avLst>
              <a:gd name="adj" fmla="val 7123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338935" y="4366543"/>
            <a:ext cx="153898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QUALITÉ INITIALE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4338935" y="4633168"/>
            <a:ext cx="1609316" cy="591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6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 valeur</a:t>
            </a:r>
            <a:endParaRPr lang="en-US" sz="1660" dirty="0"/>
          </a:p>
          <a:p>
            <a:pPr algn="l" indent="0" marL="0">
              <a:lnSpc>
                <a:spcPts val="2484"/>
              </a:lnSpc>
              <a:buNone/>
            </a:pPr>
            <a:r>
              <a:rPr lang="en-US" sz="16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manquante</a:t>
            </a:r>
            <a:endParaRPr lang="en-US" sz="1660" dirty="0"/>
          </a:p>
        </p:txBody>
      </p:sp>
      <p:sp>
        <p:nvSpPr>
          <p:cNvPr id="31" name="Text 28"/>
          <p:cNvSpPr/>
          <p:nvPr/>
        </p:nvSpPr>
        <p:spPr>
          <a:xfrm>
            <a:off x="4338935" y="5281315"/>
            <a:ext cx="237335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 doublon complet détecté</a:t>
            </a:r>
            <a:endParaRPr lang="en-US" sz="1040" dirty="0"/>
          </a:p>
        </p:txBody>
      </p:sp>
      <p:sp>
        <p:nvSpPr>
          <p:cNvPr id="32" name="Shape 29"/>
          <p:cNvSpPr/>
          <p:nvPr/>
        </p:nvSpPr>
        <p:spPr>
          <a:xfrm>
            <a:off x="6534224" y="4169532"/>
            <a:ext cx="2243138" cy="1476375"/>
          </a:xfrm>
          <a:prstGeom prst="roundRect">
            <a:avLst>
              <a:gd name="adj" fmla="val 7123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720929" y="4366543"/>
            <a:ext cx="141883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4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 CIBLE</a:t>
            </a:r>
            <a:endParaRPr lang="en-US" sz="970" dirty="0"/>
          </a:p>
        </p:txBody>
      </p:sp>
      <p:sp>
        <p:nvSpPr>
          <p:cNvPr id="34" name="Text 31"/>
          <p:cNvSpPr/>
          <p:nvPr/>
        </p:nvSpPr>
        <p:spPr>
          <a:xfrm>
            <a:off x="6720929" y="4633168"/>
            <a:ext cx="199791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16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niveau_risque</a:t>
            </a:r>
            <a:endParaRPr lang="en-US" sz="1660" dirty="0"/>
          </a:p>
        </p:txBody>
      </p:sp>
      <p:sp>
        <p:nvSpPr>
          <p:cNvPr id="35" name="Text 32"/>
          <p:cNvSpPr/>
          <p:nvPr/>
        </p:nvSpPr>
        <p:spPr>
          <a:xfrm>
            <a:off x="6720929" y="4965874"/>
            <a:ext cx="179099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faible · moyen · eleve</a:t>
            </a:r>
            <a:endParaRPr lang="en-US" sz="1040" dirty="0"/>
          </a:p>
        </p:txBody>
      </p:sp>
      <p:sp>
        <p:nvSpPr>
          <p:cNvPr id="36" name="Text 33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7" name="Text 34"/>
          <p:cNvSpPr/>
          <p:nvPr/>
        </p:nvSpPr>
        <p:spPr>
          <a:xfrm>
            <a:off x="8314060" y="4630936"/>
            <a:ext cx="66060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05</a:t>
            </a:r>
            <a:endParaRPr lang="en-US" sz="94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681317" y="222052"/>
            <a:ext cx="85920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DONNÉES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727397"/>
            <a:ext cx="363008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QUE DÉCRIVENT LES VARIABLES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887611"/>
            <a:ext cx="9778767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risque est lu à travers quatre familles de signaux</a:t>
            </a:r>
            <a:endParaRPr lang="en-US" sz="2560" dirty="0"/>
          </a:p>
        </p:txBody>
      </p:sp>
      <p:sp>
        <p:nvSpPr>
          <p:cNvPr id="10" name="Shape 7"/>
          <p:cNvSpPr/>
          <p:nvPr/>
        </p:nvSpPr>
        <p:spPr>
          <a:xfrm>
            <a:off x="365261" y="1477008"/>
            <a:ext cx="4138612" cy="1181100"/>
          </a:xfrm>
          <a:prstGeom prst="roundRect">
            <a:avLst>
              <a:gd name="adj" fmla="val 8903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6042" y="1646188"/>
            <a:ext cx="1238250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17265" y="1691729"/>
            <a:ext cx="145569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GÉOGRAPHIE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535037" y="2005012"/>
            <a:ext cx="449134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89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Région, préfecture, latitude, longitude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535037" y="2311747"/>
            <a:ext cx="333464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Repérage spatial et contexte territorial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4640089" y="1477008"/>
            <a:ext cx="4138612" cy="1181100"/>
          </a:xfrm>
          <a:prstGeom prst="roundRect">
            <a:avLst>
              <a:gd name="adj" fmla="val 8903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10013" y="1646188"/>
            <a:ext cx="909638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892055" y="1691729"/>
            <a:ext cx="10263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CLIMAT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4809827" y="2005012"/>
            <a:ext cx="432534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89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Températures, zone climatique, vent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4809827" y="2311747"/>
            <a:ext cx="364643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Conditions thermiques et atmosphériques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365261" y="2795327"/>
            <a:ext cx="4138612" cy="1181100"/>
          </a:xfrm>
          <a:prstGeom prst="roundRect">
            <a:avLst>
              <a:gd name="adj" fmla="val 8903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4553" y="2964507"/>
            <a:ext cx="1566862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17265" y="3010049"/>
            <a:ext cx="18790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PLUIE &amp; HUMIDITÉ</a:t>
            </a:r>
            <a:endParaRPr lang="en-US" sz="970" dirty="0"/>
          </a:p>
        </p:txBody>
      </p:sp>
      <p:sp>
        <p:nvSpPr>
          <p:cNvPr id="23" name="Text 20"/>
          <p:cNvSpPr/>
          <p:nvPr/>
        </p:nvSpPr>
        <p:spPr>
          <a:xfrm>
            <a:off x="535037" y="3323332"/>
            <a:ext cx="394980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89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Cumul quotidien, 7 jours, 30 jours</a:t>
            </a:r>
            <a:endParaRPr lang="en-US" sz="1440" dirty="0"/>
          </a:p>
        </p:txBody>
      </p:sp>
      <p:sp>
        <p:nvSpPr>
          <p:cNvPr id="24" name="Text 21"/>
          <p:cNvSpPr/>
          <p:nvPr/>
        </p:nvSpPr>
        <p:spPr>
          <a:xfrm>
            <a:off x="535037" y="3630067"/>
            <a:ext cx="299954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Humidité de l'atmosphère et du sol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4640089" y="2795327"/>
            <a:ext cx="4138612" cy="1181100"/>
          </a:xfrm>
          <a:prstGeom prst="roundRect">
            <a:avLst>
              <a:gd name="adj" fmla="val 8903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09790" y="2964507"/>
            <a:ext cx="1547813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892055" y="3010049"/>
            <a:ext cx="185541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ENVIRONNEMENT</a:t>
            </a:r>
            <a:endParaRPr lang="en-US" sz="970" dirty="0"/>
          </a:p>
        </p:txBody>
      </p:sp>
      <p:sp>
        <p:nvSpPr>
          <p:cNvPr id="28" name="Text 25"/>
          <p:cNvSpPr/>
          <p:nvPr/>
        </p:nvSpPr>
        <p:spPr>
          <a:xfrm>
            <a:off x="4809827" y="3323332"/>
            <a:ext cx="469942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89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Jours de pluie et indice d'eau stagnante</a:t>
            </a:r>
            <a:endParaRPr lang="en-US" sz="1440" dirty="0"/>
          </a:p>
        </p:txBody>
      </p:sp>
      <p:sp>
        <p:nvSpPr>
          <p:cNvPr id="29" name="Text 26"/>
          <p:cNvSpPr/>
          <p:nvPr/>
        </p:nvSpPr>
        <p:spPr>
          <a:xfrm>
            <a:off x="4809827" y="3630067"/>
            <a:ext cx="303572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Conditions favorables aux vecteurs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366713" y="4095229"/>
            <a:ext cx="8410575" cy="833437"/>
          </a:xfrm>
          <a:prstGeom prst="roundRect">
            <a:avLst>
              <a:gd name="adj" fmla="val 12617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25884" y="4264372"/>
            <a:ext cx="56338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CIBLE</a:t>
            </a:r>
            <a:endParaRPr lang="en-US" sz="970" dirty="0"/>
          </a:p>
        </p:txBody>
      </p:sp>
      <p:sp>
        <p:nvSpPr>
          <p:cNvPr id="32" name="Text 29"/>
          <p:cNvSpPr/>
          <p:nvPr/>
        </p:nvSpPr>
        <p:spPr>
          <a:xfrm>
            <a:off x="525884" y="4500116"/>
            <a:ext cx="479974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51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niveau_risque = faible, moyen ou eleve</a:t>
            </a:r>
            <a:endParaRPr lang="en-US" sz="1510" dirty="0"/>
          </a:p>
        </p:txBody>
      </p:sp>
      <p:sp>
        <p:nvSpPr>
          <p:cNvPr id="33" name="Shape 30"/>
          <p:cNvSpPr/>
          <p:nvPr/>
        </p:nvSpPr>
        <p:spPr>
          <a:xfrm>
            <a:off x="4925913" y="4357129"/>
            <a:ext cx="14288" cy="309562"/>
          </a:xfrm>
          <a:prstGeom prst="rect">
            <a:avLst/>
          </a:prstGeom>
          <a:solidFill>
            <a:srgbClr val="0C9487">
              <a:alpha val="4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692080" y="4334842"/>
            <a:ext cx="3507611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champs sanitaires simulés sont des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contrôles, pas des variables explicatives.</a:t>
            </a:r>
            <a:endParaRPr lang="en-US" sz="1040" dirty="0"/>
          </a:p>
        </p:txBody>
      </p:sp>
      <p:sp>
        <p:nvSpPr>
          <p:cNvPr id="35" name="Text 32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6" name="Text 33"/>
          <p:cNvSpPr/>
          <p:nvPr/>
        </p:nvSpPr>
        <p:spPr>
          <a:xfrm>
            <a:off x="8312497" y="4630936"/>
            <a:ext cx="66263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06</a:t>
            </a:r>
            <a:endParaRPr lang="en-US" sz="94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405539" y="222052"/>
            <a:ext cx="121771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EXPLORATION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1186458"/>
            <a:ext cx="3388816" cy="3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CIBLE DÉSÉQUILIBRÉE, MAIS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EXPLOITABLE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1559272"/>
            <a:ext cx="3183731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trois classes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1900089"/>
            <a:ext cx="4239823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restent suffisamment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365745" y="2240905"/>
            <a:ext cx="2643351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représentées</a:t>
            </a:r>
            <a:endParaRPr lang="en-US" sz="2560" dirty="0"/>
          </a:p>
        </p:txBody>
      </p:sp>
      <p:sp>
        <p:nvSpPr>
          <p:cNvPr id="12" name="Text 9"/>
          <p:cNvSpPr/>
          <p:nvPr/>
        </p:nvSpPr>
        <p:spPr>
          <a:xfrm>
            <a:off x="365745" y="2752725"/>
            <a:ext cx="436277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classe faible est majoritaire. La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pondération des classes est donc utilisée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pendant l'apprentissage.</a:t>
            </a:r>
            <a:endParaRPr lang="en-US" sz="1330" dirty="0"/>
          </a:p>
        </p:txBody>
      </p:sp>
      <p:sp>
        <p:nvSpPr>
          <p:cNvPr id="13" name="Shape 10"/>
          <p:cNvSpPr/>
          <p:nvPr/>
        </p:nvSpPr>
        <p:spPr>
          <a:xfrm>
            <a:off x="365485" y="3602236"/>
            <a:ext cx="2009775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47973" y="3647777"/>
            <a:ext cx="245538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PONDÉRATION « BALANCED »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4150221" y="1096491"/>
            <a:ext cx="4629150" cy="2843213"/>
          </a:xfrm>
          <a:prstGeom prst="roundRect">
            <a:avLst>
              <a:gd name="adj" fmla="val 3698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146" y="1329854"/>
            <a:ext cx="2376487" cy="2376487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723284" y="1667991"/>
            <a:ext cx="1700213" cy="1700213"/>
          </a:xfrm>
          <a:prstGeom prst="ellipse">
            <a:avLst/>
          </a:prstGeom>
          <a:solidFill>
            <a:srgbClr val="F4F7FA"/>
          </a:solidFill>
          <a:ln/>
        </p:spPr>
      </p:sp>
      <p:sp>
        <p:nvSpPr>
          <p:cNvPr id="18" name="Text 14"/>
          <p:cNvSpPr/>
          <p:nvPr/>
        </p:nvSpPr>
        <p:spPr>
          <a:xfrm>
            <a:off x="4979380" y="2241054"/>
            <a:ext cx="118802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</a:t>
            </a:r>
            <a:endParaRPr lang="en-US" sz="2300" dirty="0"/>
          </a:p>
        </p:txBody>
      </p:sp>
      <p:sp>
        <p:nvSpPr>
          <p:cNvPr id="19" name="Text 15"/>
          <p:cNvSpPr/>
          <p:nvPr/>
        </p:nvSpPr>
        <p:spPr>
          <a:xfrm>
            <a:off x="4994568" y="2646611"/>
            <a:ext cx="115764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observations</a:t>
            </a:r>
            <a:endParaRPr lang="en-US" sz="1040" dirty="0"/>
          </a:p>
        </p:txBody>
      </p:sp>
      <p:sp>
        <p:nvSpPr>
          <p:cNvPr id="20" name="Shape 16"/>
          <p:cNvSpPr/>
          <p:nvPr/>
        </p:nvSpPr>
        <p:spPr>
          <a:xfrm>
            <a:off x="7036817" y="1947342"/>
            <a:ext cx="90488" cy="904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7"/>
          <p:cNvSpPr/>
          <p:nvPr/>
        </p:nvSpPr>
        <p:spPr>
          <a:xfrm>
            <a:off x="7219131" y="1800746"/>
            <a:ext cx="66292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Faible</a:t>
            </a:r>
            <a:endParaRPr lang="en-US" sz="1260" dirty="0"/>
          </a:p>
        </p:txBody>
      </p:sp>
      <p:sp>
        <p:nvSpPr>
          <p:cNvPr id="22" name="Text 18"/>
          <p:cNvSpPr/>
          <p:nvPr/>
        </p:nvSpPr>
        <p:spPr>
          <a:xfrm>
            <a:off x="7219131" y="2021681"/>
            <a:ext cx="109989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2 157 · 43,1 %</a:t>
            </a:r>
            <a:endParaRPr lang="en-US" sz="1040" dirty="0"/>
          </a:p>
        </p:txBody>
      </p:sp>
      <p:sp>
        <p:nvSpPr>
          <p:cNvPr id="23" name="Shape 19"/>
          <p:cNvSpPr/>
          <p:nvPr/>
        </p:nvSpPr>
        <p:spPr>
          <a:xfrm>
            <a:off x="7036817" y="2472779"/>
            <a:ext cx="90488" cy="90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0"/>
          <p:cNvSpPr/>
          <p:nvPr/>
        </p:nvSpPr>
        <p:spPr>
          <a:xfrm>
            <a:off x="7219131" y="2326184"/>
            <a:ext cx="59607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Élevé</a:t>
            </a:r>
            <a:endParaRPr lang="en-US" sz="1260" dirty="0"/>
          </a:p>
        </p:txBody>
      </p:sp>
      <p:sp>
        <p:nvSpPr>
          <p:cNvPr id="25" name="Text 21"/>
          <p:cNvSpPr/>
          <p:nvPr/>
        </p:nvSpPr>
        <p:spPr>
          <a:xfrm>
            <a:off x="7219131" y="2547119"/>
            <a:ext cx="116586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1 608 · 32,2 %</a:t>
            </a:r>
            <a:endParaRPr lang="en-US" sz="1040" dirty="0"/>
          </a:p>
        </p:txBody>
      </p:sp>
      <p:sp>
        <p:nvSpPr>
          <p:cNvPr id="26" name="Shape 22"/>
          <p:cNvSpPr/>
          <p:nvPr/>
        </p:nvSpPr>
        <p:spPr>
          <a:xfrm>
            <a:off x="7036817" y="2998217"/>
            <a:ext cx="90488" cy="9048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7" name="Text 23"/>
          <p:cNvSpPr/>
          <p:nvPr/>
        </p:nvSpPr>
        <p:spPr>
          <a:xfrm>
            <a:off x="7219131" y="2851621"/>
            <a:ext cx="73267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Moyen</a:t>
            </a:r>
            <a:endParaRPr lang="en-US" sz="1260" dirty="0"/>
          </a:p>
        </p:txBody>
      </p:sp>
      <p:sp>
        <p:nvSpPr>
          <p:cNvPr id="28" name="Text 24"/>
          <p:cNvSpPr/>
          <p:nvPr/>
        </p:nvSpPr>
        <p:spPr>
          <a:xfrm>
            <a:off x="7219131" y="3072557"/>
            <a:ext cx="113655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1 235 · 24,7 %</a:t>
            </a:r>
            <a:endParaRPr lang="en-US" sz="1040" dirty="0"/>
          </a:p>
        </p:txBody>
      </p:sp>
      <p:sp>
        <p:nvSpPr>
          <p:cNvPr id="29" name="Text 25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0" name="Text 26"/>
          <p:cNvSpPr/>
          <p:nvPr/>
        </p:nvSpPr>
        <p:spPr>
          <a:xfrm>
            <a:off x="8324850" y="4630936"/>
            <a:ext cx="64657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07</a:t>
            </a:r>
            <a:endParaRPr lang="en-US" sz="94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405539" y="222052"/>
            <a:ext cx="121771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EXPLORATION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701725"/>
            <a:ext cx="392929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RISQUE VARIE SELON LE CONTEXTE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861938"/>
            <a:ext cx="4480121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profils régionaux et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1202754"/>
            <a:ext cx="6652573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climatiques ne sont pas uniformes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525661" y="2112094"/>
            <a:ext cx="3663456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observations couvrent des profils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régionaux et climatiques distincts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525661" y="2607022"/>
            <a:ext cx="408881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zones climatiques présentes : soudano-guinéen,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1186011" y="2814638"/>
            <a:ext cx="303475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côtier, forestier et montagneux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525661" y="3101950"/>
            <a:ext cx="4279873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régions forestières et côtières montrent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 profils simulés différenciés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525661" y="3596878"/>
            <a:ext cx="4111838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analyse par région et préfecture reste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nécessaire avant tout usage réel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4097722" y="1740508"/>
            <a:ext cx="4681537" cy="2643188"/>
          </a:xfrm>
          <a:prstGeom prst="roundRect">
            <a:avLst>
              <a:gd name="adj" fmla="val 3978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268019" y="1919511"/>
            <a:ext cx="3450245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RÉPARTITION RELATIVE DU RISQUE PAR</a:t>
            </a:r>
            <a:endParaRPr lang="en-US" sz="97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RÉGION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7194575" y="2104653"/>
            <a:ext cx="5215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Faible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7695902" y="2104653"/>
            <a:ext cx="57528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Moyen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8234958" y="2104653"/>
            <a:ext cx="47051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Élevé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4269172" y="2413992"/>
            <a:ext cx="4338637" cy="1800225"/>
          </a:xfrm>
          <a:prstGeom prst="rect">
            <a:avLst/>
          </a:prstGeom>
          <a:ln/>
        </p:spPr>
      </p:sp>
      <p:sp>
        <p:nvSpPr>
          <p:cNvPr id="22" name="Shape 19"/>
          <p:cNvSpPr/>
          <p:nvPr/>
        </p:nvSpPr>
        <p:spPr>
          <a:xfrm>
            <a:off x="4267795" y="2197819"/>
            <a:ext cx="347663" cy="11049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0"/>
          <p:cNvSpPr/>
          <p:nvPr/>
        </p:nvSpPr>
        <p:spPr>
          <a:xfrm>
            <a:off x="4267795" y="3304803"/>
            <a:ext cx="347663" cy="176212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24" name="Shape 21"/>
          <p:cNvSpPr/>
          <p:nvPr/>
        </p:nvSpPr>
        <p:spPr>
          <a:xfrm>
            <a:off x="4267795" y="3482839"/>
            <a:ext cx="347663" cy="46196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2"/>
          <p:cNvSpPr/>
          <p:nvPr/>
        </p:nvSpPr>
        <p:spPr>
          <a:xfrm>
            <a:off x="4204915" y="3996110"/>
            <a:ext cx="67269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Conakry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38328" y="2198861"/>
            <a:ext cx="347663" cy="35242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4"/>
          <p:cNvSpPr/>
          <p:nvPr/>
        </p:nvSpPr>
        <p:spPr>
          <a:xfrm>
            <a:off x="4838328" y="2551658"/>
            <a:ext cx="347663" cy="481012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28" name="Shape 25"/>
          <p:cNvSpPr/>
          <p:nvPr/>
        </p:nvSpPr>
        <p:spPr>
          <a:xfrm>
            <a:off x="4838328" y="3031852"/>
            <a:ext cx="347663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6"/>
          <p:cNvSpPr/>
          <p:nvPr/>
        </p:nvSpPr>
        <p:spPr>
          <a:xfrm>
            <a:off x="4875758" y="3996110"/>
            <a:ext cx="41179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Boké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408861" y="2196033"/>
            <a:ext cx="347663" cy="9763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8"/>
          <p:cNvSpPr/>
          <p:nvPr/>
        </p:nvSpPr>
        <p:spPr>
          <a:xfrm>
            <a:off x="5408861" y="3170448"/>
            <a:ext cx="347663" cy="204787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32" name="Shape 29"/>
          <p:cNvSpPr/>
          <p:nvPr/>
        </p:nvSpPr>
        <p:spPr>
          <a:xfrm>
            <a:off x="5408861" y="3374045"/>
            <a:ext cx="347663" cy="571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0"/>
          <p:cNvSpPr/>
          <p:nvPr/>
        </p:nvSpPr>
        <p:spPr>
          <a:xfrm>
            <a:off x="5407893" y="3996110"/>
            <a:ext cx="51172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Kindia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979393" y="2196815"/>
            <a:ext cx="347663" cy="1809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2"/>
          <p:cNvSpPr/>
          <p:nvPr/>
        </p:nvSpPr>
        <p:spPr>
          <a:xfrm>
            <a:off x="5979393" y="2377306"/>
            <a:ext cx="347663" cy="604837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36" name="Shape 33"/>
          <p:cNvSpPr/>
          <p:nvPr/>
        </p:nvSpPr>
        <p:spPr>
          <a:xfrm>
            <a:off x="5979393" y="2982813"/>
            <a:ext cx="347663" cy="96202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4"/>
          <p:cNvSpPr/>
          <p:nvPr/>
        </p:nvSpPr>
        <p:spPr>
          <a:xfrm>
            <a:off x="6016005" y="3996110"/>
            <a:ext cx="41392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Labé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549926" y="2196703"/>
            <a:ext cx="347663" cy="3571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Shape 36"/>
          <p:cNvSpPr/>
          <p:nvPr/>
        </p:nvSpPr>
        <p:spPr>
          <a:xfrm>
            <a:off x="6549926" y="2554523"/>
            <a:ext cx="347663" cy="58578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40" name="Shape 37"/>
          <p:cNvSpPr/>
          <p:nvPr/>
        </p:nvSpPr>
        <p:spPr>
          <a:xfrm>
            <a:off x="6549926" y="3140869"/>
            <a:ext cx="347663" cy="80486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8"/>
          <p:cNvSpPr/>
          <p:nvPr/>
        </p:nvSpPr>
        <p:spPr>
          <a:xfrm>
            <a:off x="6515770" y="3996110"/>
            <a:ext cx="59791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Mamou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120458" y="2196219"/>
            <a:ext cx="347663" cy="4857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Shape 40"/>
          <p:cNvSpPr/>
          <p:nvPr/>
        </p:nvSpPr>
        <p:spPr>
          <a:xfrm>
            <a:off x="7120458" y="2681362"/>
            <a:ext cx="347663" cy="58578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44" name="Shape 41"/>
          <p:cNvSpPr/>
          <p:nvPr/>
        </p:nvSpPr>
        <p:spPr>
          <a:xfrm>
            <a:off x="7120458" y="3268191"/>
            <a:ext cx="347663" cy="6762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2"/>
          <p:cNvSpPr/>
          <p:nvPr/>
        </p:nvSpPr>
        <p:spPr>
          <a:xfrm>
            <a:off x="7070601" y="3996110"/>
            <a:ext cx="63883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Faranah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690991" y="2198005"/>
            <a:ext cx="347663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Shape 44"/>
          <p:cNvSpPr/>
          <p:nvPr/>
        </p:nvSpPr>
        <p:spPr>
          <a:xfrm>
            <a:off x="7690991" y="2427722"/>
            <a:ext cx="347663" cy="533400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48" name="Shape 45"/>
          <p:cNvSpPr/>
          <p:nvPr/>
        </p:nvSpPr>
        <p:spPr>
          <a:xfrm>
            <a:off x="7690991" y="2960377"/>
            <a:ext cx="347663" cy="98583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6"/>
          <p:cNvSpPr/>
          <p:nvPr/>
        </p:nvSpPr>
        <p:spPr>
          <a:xfrm>
            <a:off x="7660109" y="3996110"/>
            <a:ext cx="58940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Kankan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261524" y="2197857"/>
            <a:ext cx="347663" cy="104775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Shape 48"/>
          <p:cNvSpPr/>
          <p:nvPr/>
        </p:nvSpPr>
        <p:spPr>
          <a:xfrm>
            <a:off x="8261524" y="3245569"/>
            <a:ext cx="347663" cy="219075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52" name="Shape 49"/>
          <p:cNvSpPr/>
          <p:nvPr/>
        </p:nvSpPr>
        <p:spPr>
          <a:xfrm>
            <a:off x="8261524" y="3464012"/>
            <a:ext cx="347663" cy="4810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3" name="Text 50"/>
          <p:cNvSpPr/>
          <p:nvPr/>
        </p:nvSpPr>
        <p:spPr>
          <a:xfrm>
            <a:off x="8151093" y="3996110"/>
            <a:ext cx="79632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Nzérékoré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55" name="Text 52"/>
          <p:cNvSpPr/>
          <p:nvPr/>
        </p:nvSpPr>
        <p:spPr>
          <a:xfrm>
            <a:off x="8312721" y="4630936"/>
            <a:ext cx="66234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08</a:t>
            </a:r>
            <a:endParaRPr lang="en-US" sz="940" dirty="0"/>
          </a:p>
        </p:txBody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9172" y="2413992"/>
            <a:ext cx="4338637" cy="1800225"/>
          </a:xfrm>
          <a:prstGeom prst="rect">
            <a:avLst/>
          </a:prstGeom>
        </p:spPr>
      </p:pic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414171" y="222052"/>
            <a:ext cx="12064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PRÉPARATION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727397"/>
            <a:ext cx="60712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PRÉPARER LES DONNÉES SANS CONTAMINER L'ÉVALUATION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887611"/>
            <a:ext cx="9285402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pipeline simple, reproductible et isolé du test</a:t>
            </a:r>
            <a:endParaRPr lang="en-US" sz="2560" dirty="0"/>
          </a:p>
        </p:txBody>
      </p:sp>
      <p:sp>
        <p:nvSpPr>
          <p:cNvPr id="10" name="Shape 7"/>
          <p:cNvSpPr/>
          <p:nvPr/>
        </p:nvSpPr>
        <p:spPr>
          <a:xfrm>
            <a:off x="365447" y="1528837"/>
            <a:ext cx="2719387" cy="1490663"/>
          </a:xfrm>
          <a:prstGeom prst="roundRect">
            <a:avLst>
              <a:gd name="adj" fmla="val 7054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4888" y="1697682"/>
            <a:ext cx="304800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17265" y="1743224"/>
            <a:ext cx="23921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535037" y="2046163"/>
            <a:ext cx="58176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</a:t>
            </a:r>
            <a:endParaRPr lang="en-US" sz="1370" dirty="0"/>
          </a:p>
        </p:txBody>
      </p:sp>
      <p:sp>
        <p:nvSpPr>
          <p:cNvPr id="14" name="Text 11"/>
          <p:cNvSpPr/>
          <p:nvPr/>
        </p:nvSpPr>
        <p:spPr>
          <a:xfrm>
            <a:off x="535037" y="2328788"/>
            <a:ext cx="2239082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Conversion et création de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jour_annee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3212269" y="1528837"/>
            <a:ext cx="2719387" cy="1490663"/>
          </a:xfrm>
          <a:prstGeom prst="roundRect">
            <a:avLst>
              <a:gd name="adj" fmla="val 7054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2380" y="1697682"/>
            <a:ext cx="328613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464049" y="1743224"/>
            <a:ext cx="27200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3381821" y="2046163"/>
            <a:ext cx="129249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Imputation</a:t>
            </a:r>
            <a:endParaRPr lang="en-US" sz="1370" dirty="0"/>
          </a:p>
        </p:txBody>
      </p:sp>
      <p:sp>
        <p:nvSpPr>
          <p:cNvPr id="19" name="Text 16"/>
          <p:cNvSpPr/>
          <p:nvPr/>
        </p:nvSpPr>
        <p:spPr>
          <a:xfrm>
            <a:off x="3381821" y="2328788"/>
            <a:ext cx="2594692" cy="520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Médiane pour les numériques,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modalité fréquente pour les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catégories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6059128" y="1528837"/>
            <a:ext cx="2719387" cy="1490663"/>
          </a:xfrm>
          <a:prstGeom prst="roundRect">
            <a:avLst>
              <a:gd name="adj" fmla="val 7054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28829" y="1697682"/>
            <a:ext cx="333375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310908" y="1743224"/>
            <a:ext cx="2771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70" dirty="0"/>
          </a:p>
        </p:txBody>
      </p:sp>
      <p:sp>
        <p:nvSpPr>
          <p:cNvPr id="23" name="Text 20"/>
          <p:cNvSpPr/>
          <p:nvPr/>
        </p:nvSpPr>
        <p:spPr>
          <a:xfrm>
            <a:off x="6228680" y="2046163"/>
            <a:ext cx="115493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Encodage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6228680" y="2328788"/>
            <a:ext cx="2781977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One-Hot Encoding des variables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catégorielles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365447" y="3147789"/>
            <a:ext cx="2719387" cy="1319213"/>
          </a:xfrm>
          <a:prstGeom prst="roundRect">
            <a:avLst>
              <a:gd name="adj" fmla="val 7971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5893" y="3317081"/>
            <a:ext cx="338137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17265" y="3362623"/>
            <a:ext cx="2851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970" dirty="0"/>
          </a:p>
        </p:txBody>
      </p:sp>
      <p:sp>
        <p:nvSpPr>
          <p:cNvPr id="28" name="Text 25"/>
          <p:cNvSpPr/>
          <p:nvPr/>
        </p:nvSpPr>
        <p:spPr>
          <a:xfrm>
            <a:off x="535037" y="3665562"/>
            <a:ext cx="184303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Standardisation</a:t>
            </a:r>
            <a:endParaRPr lang="en-US" sz="1370" dirty="0"/>
          </a:p>
        </p:txBody>
      </p:sp>
      <p:sp>
        <p:nvSpPr>
          <p:cNvPr id="29" name="Text 26"/>
          <p:cNvSpPr/>
          <p:nvPr/>
        </p:nvSpPr>
        <p:spPr>
          <a:xfrm>
            <a:off x="535037" y="3948187"/>
            <a:ext cx="2474930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Mise à l'échelle des variables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numériques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3212269" y="3147789"/>
            <a:ext cx="2719387" cy="1319213"/>
          </a:xfrm>
          <a:prstGeom prst="roundRect">
            <a:avLst>
              <a:gd name="adj" fmla="val 7971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380631" y="3317081"/>
            <a:ext cx="338137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3464049" y="3362623"/>
            <a:ext cx="2798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970" dirty="0"/>
          </a:p>
        </p:txBody>
      </p:sp>
      <p:sp>
        <p:nvSpPr>
          <p:cNvPr id="33" name="Text 30"/>
          <p:cNvSpPr/>
          <p:nvPr/>
        </p:nvSpPr>
        <p:spPr>
          <a:xfrm>
            <a:off x="3381821" y="3665562"/>
            <a:ext cx="127731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Séparation</a:t>
            </a:r>
            <a:endParaRPr lang="en-US" sz="1370" dirty="0"/>
          </a:p>
        </p:txBody>
      </p:sp>
      <p:sp>
        <p:nvSpPr>
          <p:cNvPr id="34" name="Text 31"/>
          <p:cNvSpPr/>
          <p:nvPr/>
        </p:nvSpPr>
        <p:spPr>
          <a:xfrm>
            <a:off x="3381821" y="3948187"/>
            <a:ext cx="2680402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80 % entraînement / 20 % test,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stratifiée</a:t>
            </a:r>
            <a:endParaRPr lang="en-US" sz="1040" dirty="0"/>
          </a:p>
        </p:txBody>
      </p:sp>
      <p:sp>
        <p:nvSpPr>
          <p:cNvPr id="35" name="Shape 32"/>
          <p:cNvSpPr/>
          <p:nvPr/>
        </p:nvSpPr>
        <p:spPr>
          <a:xfrm>
            <a:off x="6059128" y="3147789"/>
            <a:ext cx="2719387" cy="1319213"/>
          </a:xfrm>
          <a:prstGeom prst="roundRect">
            <a:avLst>
              <a:gd name="adj" fmla="val 7971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28234" y="3317081"/>
            <a:ext cx="338137" cy="257175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310908" y="3362623"/>
            <a:ext cx="28177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970" dirty="0"/>
          </a:p>
        </p:txBody>
      </p:sp>
      <p:sp>
        <p:nvSpPr>
          <p:cNvPr id="38" name="Text 35"/>
          <p:cNvSpPr/>
          <p:nvPr/>
        </p:nvSpPr>
        <p:spPr>
          <a:xfrm>
            <a:off x="6228680" y="3665562"/>
            <a:ext cx="1029273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Contrôle</a:t>
            </a:r>
            <a:endParaRPr lang="en-US" sz="1370" dirty="0"/>
          </a:p>
        </p:txBody>
      </p:sp>
      <p:sp>
        <p:nvSpPr>
          <p:cNvPr id="39" name="Text 36"/>
          <p:cNvSpPr/>
          <p:nvPr/>
        </p:nvSpPr>
        <p:spPr>
          <a:xfrm>
            <a:off x="6228680" y="3948187"/>
            <a:ext cx="2971778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test reste isolé pour l'évaluation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finale</a:t>
            </a:r>
            <a:endParaRPr lang="en-US" sz="1040" dirty="0"/>
          </a:p>
        </p:txBody>
      </p:sp>
      <p:sp>
        <p:nvSpPr>
          <p:cNvPr id="40" name="Shape 37"/>
          <p:cNvSpPr/>
          <p:nvPr/>
        </p:nvSpPr>
        <p:spPr>
          <a:xfrm>
            <a:off x="364778" y="4754017"/>
            <a:ext cx="733425" cy="952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8"/>
          <p:cNvSpPr/>
          <p:nvPr/>
        </p:nvSpPr>
        <p:spPr>
          <a:xfrm>
            <a:off x="1188616" y="4667845"/>
            <a:ext cx="558845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préprocesseur est ajusté à l'intérieur des pipelines scikit-learn</a:t>
            </a:r>
            <a:endParaRPr lang="en-US" sz="1040" dirty="0"/>
          </a:p>
        </p:txBody>
      </p:sp>
      <p:sp>
        <p:nvSpPr>
          <p:cNvPr id="42" name="Text 39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43" name="Text 40"/>
          <p:cNvSpPr/>
          <p:nvPr/>
        </p:nvSpPr>
        <p:spPr>
          <a:xfrm>
            <a:off x="8312497" y="4630936"/>
            <a:ext cx="66263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09</a:t>
            </a:r>
            <a:endParaRPr lang="en-US" sz="940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F7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6495008" y="222052"/>
            <a:ext cx="24014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C7D5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INTÉGRITÉ DE L'ÉVALUATION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C7D5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1782887"/>
            <a:ext cx="336579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PRÉVENIR LA FUITE DE DONNÉES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1943100"/>
            <a:ext cx="2422981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Prédire sans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2283916"/>
            <a:ext cx="3802953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regarder la réponse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365745" y="2800945"/>
            <a:ext cx="5200434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DBE7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L'anticipation doit reposer sur l'environnement,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DBE7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 sur des résultats sanitaires déjà liés à la cible.</a:t>
            </a:r>
            <a:endParaRPr lang="en-US" sz="1330" dirty="0"/>
          </a:p>
        </p:txBody>
      </p:sp>
      <p:sp>
        <p:nvSpPr>
          <p:cNvPr id="12" name="Shape 9"/>
          <p:cNvSpPr/>
          <p:nvPr/>
        </p:nvSpPr>
        <p:spPr>
          <a:xfrm>
            <a:off x="4754389" y="517847"/>
            <a:ext cx="4024312" cy="4000500"/>
          </a:xfrm>
          <a:prstGeom prst="roundRect">
            <a:avLst>
              <a:gd name="adj" fmla="val 2629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42433" y="714301"/>
            <a:ext cx="291499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VARIABLES EXCLUES DU MODÈLE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4942508" y="982154"/>
            <a:ext cx="3648075" cy="471488"/>
          </a:xfrm>
          <a:prstGeom prst="roundRect">
            <a:avLst>
              <a:gd name="adj" fmla="val 13576"/>
            </a:avLst>
          </a:prstGeom>
          <a:solidFill>
            <a:srgbClr val="FE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5061272" y="1115616"/>
            <a:ext cx="25099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991B1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cas_paludisme_simules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4942508" y="1514661"/>
            <a:ext cx="3648075" cy="471488"/>
          </a:xfrm>
          <a:prstGeom prst="roundRect">
            <a:avLst>
              <a:gd name="adj" fmla="val 13576"/>
            </a:avLst>
          </a:prstGeom>
          <a:solidFill>
            <a:srgbClr val="FEF2F2"/>
          </a:solidFill>
          <a:ln/>
        </p:spPr>
      </p:sp>
      <p:sp>
        <p:nvSpPr>
          <p:cNvPr id="17" name="Text 14"/>
          <p:cNvSpPr/>
          <p:nvPr/>
        </p:nvSpPr>
        <p:spPr>
          <a:xfrm>
            <a:off x="5061272" y="1648123"/>
            <a:ext cx="36978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991B1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taux_incidence_simule_pour_1000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942508" y="2108895"/>
            <a:ext cx="3648075" cy="14288"/>
          </a:xfrm>
          <a:prstGeom prst="rect">
            <a:avLst/>
          </a:prstGeom>
          <a:solidFill>
            <a:srgbClr val="DBE4EC"/>
          </a:solidFill>
          <a:ln/>
        </p:spPr>
      </p:sp>
      <p:sp>
        <p:nvSpPr>
          <p:cNvPr id="19" name="Text 16"/>
          <p:cNvSpPr/>
          <p:nvPr/>
        </p:nvSpPr>
        <p:spPr>
          <a:xfrm>
            <a:off x="4942433" y="2255788"/>
            <a:ext cx="11363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972"/>
              </a:spcBef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POURQUOI ?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5102349" y="2431405"/>
            <a:ext cx="3947867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Ces variables sont directement liées à la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construction de la cible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5102349" y="2926333"/>
            <a:ext cx="3955509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préprocesseur est ajusté uniquement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 l'entraînement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5102349" y="3421261"/>
            <a:ext cx="3711245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test reste isolé pour une évaluation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finale indépendante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5102349" y="3916189"/>
            <a:ext cx="4490762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Objectif : mesurer une anticipation fondée sur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l'environnement</a:t>
            </a:r>
            <a:endParaRPr lang="en-US" sz="1240" dirty="0"/>
          </a:p>
        </p:txBody>
      </p:sp>
      <p:sp>
        <p:nvSpPr>
          <p:cNvPr id="24" name="Text 21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6921847" y="4630936"/>
            <a:ext cx="247048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Université Kofi Annan de Guinée</a:t>
            </a:r>
            <a:endParaRPr lang="en-US" sz="94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324353" y="222052"/>
            <a:ext cx="13232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MODÉLISATION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727397"/>
            <a:ext cx="288403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TROIS MODÈLES COMPARÉS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887611"/>
            <a:ext cx="9893208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Trois façons de lire la complexité environnementale</a:t>
            </a:r>
            <a:endParaRPr lang="en-US" sz="2560" dirty="0"/>
          </a:p>
        </p:txBody>
      </p:sp>
      <p:sp>
        <p:nvSpPr>
          <p:cNvPr id="10" name="Shape 7"/>
          <p:cNvSpPr/>
          <p:nvPr/>
        </p:nvSpPr>
        <p:spPr>
          <a:xfrm>
            <a:off x="366489" y="1527497"/>
            <a:ext cx="2705100" cy="1900238"/>
          </a:xfrm>
          <a:prstGeom prst="roundRect">
            <a:avLst>
              <a:gd name="adj" fmla="val 5534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3343" y="1749400"/>
            <a:ext cx="568315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880" dirty="0"/>
          </a:p>
        </p:txBody>
      </p:sp>
      <p:sp>
        <p:nvSpPr>
          <p:cNvPr id="12" name="Text 9"/>
          <p:cNvSpPr/>
          <p:nvPr/>
        </p:nvSpPr>
        <p:spPr>
          <a:xfrm>
            <a:off x="553343" y="2386533"/>
            <a:ext cx="266831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1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Régression logistique</a:t>
            </a:r>
            <a:endParaRPr lang="en-US" sz="1510" dirty="0"/>
          </a:p>
        </p:txBody>
      </p:sp>
      <p:sp>
        <p:nvSpPr>
          <p:cNvPr id="13" name="Text 10"/>
          <p:cNvSpPr/>
          <p:nvPr/>
        </p:nvSpPr>
        <p:spPr>
          <a:xfrm>
            <a:off x="553343" y="2717527"/>
            <a:ext cx="2429560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Référence linéaire, rapide et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interprétable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553343" y="3220678"/>
            <a:ext cx="457200" cy="190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2"/>
          <p:cNvSpPr/>
          <p:nvPr/>
        </p:nvSpPr>
        <p:spPr>
          <a:xfrm>
            <a:off x="3219413" y="1527497"/>
            <a:ext cx="2705100" cy="1900238"/>
          </a:xfrm>
          <a:prstGeom prst="roundRect">
            <a:avLst>
              <a:gd name="adj" fmla="val 5534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06229" y="1749400"/>
            <a:ext cx="665537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880" dirty="0"/>
          </a:p>
        </p:txBody>
      </p:sp>
      <p:sp>
        <p:nvSpPr>
          <p:cNvPr id="17" name="Text 14"/>
          <p:cNvSpPr/>
          <p:nvPr/>
        </p:nvSpPr>
        <p:spPr>
          <a:xfrm>
            <a:off x="3406229" y="2386533"/>
            <a:ext cx="190030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1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</a:t>
            </a:r>
            <a:endParaRPr lang="en-US" sz="1510" dirty="0"/>
          </a:p>
        </p:txBody>
      </p:sp>
      <p:sp>
        <p:nvSpPr>
          <p:cNvPr id="18" name="Text 15"/>
          <p:cNvSpPr/>
          <p:nvPr/>
        </p:nvSpPr>
        <p:spPr>
          <a:xfrm>
            <a:off x="3406229" y="2717527"/>
            <a:ext cx="2969166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Capte les relations non linéaires et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fournit des importances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3406229" y="3220678"/>
            <a:ext cx="457200" cy="1905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7"/>
          <p:cNvSpPr/>
          <p:nvPr/>
        </p:nvSpPr>
        <p:spPr>
          <a:xfrm>
            <a:off x="6072374" y="1527497"/>
            <a:ext cx="2705100" cy="1900238"/>
          </a:xfrm>
          <a:prstGeom prst="roundRect">
            <a:avLst>
              <a:gd name="adj" fmla="val 5534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59190" y="1749400"/>
            <a:ext cx="68053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880" dirty="0"/>
          </a:p>
        </p:txBody>
      </p:sp>
      <p:sp>
        <p:nvSpPr>
          <p:cNvPr id="22" name="Text 19"/>
          <p:cNvSpPr/>
          <p:nvPr/>
        </p:nvSpPr>
        <p:spPr>
          <a:xfrm>
            <a:off x="6259190" y="2386533"/>
            <a:ext cx="111227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1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</a:t>
            </a:r>
            <a:endParaRPr lang="en-US" sz="1510" dirty="0"/>
          </a:p>
        </p:txBody>
      </p:sp>
      <p:sp>
        <p:nvSpPr>
          <p:cNvPr id="23" name="Text 20"/>
          <p:cNvSpPr/>
          <p:nvPr/>
        </p:nvSpPr>
        <p:spPr>
          <a:xfrm>
            <a:off x="6259190" y="2717527"/>
            <a:ext cx="2316860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Boosting d'arbres pour des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 complexes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259190" y="3220678"/>
            <a:ext cx="457200" cy="1905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2"/>
          <p:cNvSpPr/>
          <p:nvPr/>
        </p:nvSpPr>
        <p:spPr>
          <a:xfrm>
            <a:off x="366713" y="3683198"/>
            <a:ext cx="8410575" cy="442913"/>
          </a:xfrm>
          <a:prstGeom prst="roundRect">
            <a:avLst>
              <a:gd name="adj" fmla="val 20645"/>
            </a:avLst>
          </a:prstGeom>
          <a:solidFill>
            <a:srgbClr val="FFFFFF">
              <a:alpha val="70196"/>
            </a:srgbClr>
          </a:solidFill>
          <a:ln w="4763">
            <a:solidFill>
              <a:srgbClr val="DBE4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5571" y="3821609"/>
            <a:ext cx="142193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2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RANDOM_STATE</a:t>
            </a:r>
            <a:endParaRPr lang="en-US" sz="970" dirty="0"/>
          </a:p>
        </p:txBody>
      </p:sp>
      <p:sp>
        <p:nvSpPr>
          <p:cNvPr id="27" name="Text 24"/>
          <p:cNvSpPr/>
          <p:nvPr/>
        </p:nvSpPr>
        <p:spPr>
          <a:xfrm>
            <a:off x="1859012" y="3798912"/>
            <a:ext cx="31331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</a:t>
            </a:r>
            <a:endParaRPr lang="en-US" sz="1260" dirty="0"/>
          </a:p>
        </p:txBody>
      </p:sp>
      <p:sp>
        <p:nvSpPr>
          <p:cNvPr id="28" name="Shape 25"/>
          <p:cNvSpPr/>
          <p:nvPr/>
        </p:nvSpPr>
        <p:spPr>
          <a:xfrm>
            <a:off x="2931356" y="3802261"/>
            <a:ext cx="9525" cy="204787"/>
          </a:xfrm>
          <a:prstGeom prst="rect">
            <a:avLst/>
          </a:prstGeom>
          <a:solidFill>
            <a:srgbClr val="DBE4EC"/>
          </a:solidFill>
          <a:ln/>
        </p:spPr>
      </p:sp>
      <p:sp>
        <p:nvSpPr>
          <p:cNvPr id="29" name="Text 26"/>
          <p:cNvSpPr/>
          <p:nvPr/>
        </p:nvSpPr>
        <p:spPr>
          <a:xfrm>
            <a:off x="3816176" y="3805758"/>
            <a:ext cx="626387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Pondération des observations pour tenir compte du déséquilibre</a:t>
            </a:r>
            <a:endParaRPr lang="en-US" sz="1190" dirty="0"/>
          </a:p>
        </p:txBody>
      </p:sp>
      <p:sp>
        <p:nvSpPr>
          <p:cNvPr id="30" name="Text 27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1" name="Text 28"/>
          <p:cNvSpPr/>
          <p:nvPr/>
        </p:nvSpPr>
        <p:spPr>
          <a:xfrm>
            <a:off x="8384977" y="4630936"/>
            <a:ext cx="56841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11</a:t>
            </a:r>
            <a:endParaRPr lang="en-US" sz="94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494612" y="222052"/>
            <a:ext cx="110192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ÉVALUATION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1194495"/>
            <a:ext cx="472177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 MÉTRIQUES ALIGNÉES AVEC LA DÉCISION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1354708"/>
            <a:ext cx="3117756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performance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1695524"/>
            <a:ext cx="3892920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globale ne suffit pas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525661" y="2079203"/>
            <a:ext cx="4364906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 : proportion globale de prédictions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correctes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525661" y="2574131"/>
            <a:ext cx="422666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Précision : proportion des alertes correctes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525661" y="2861444"/>
            <a:ext cx="4449358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Rappel : capacité à retrouver les observations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d'une classe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525661" y="3356372"/>
            <a:ext cx="391168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 : compromis entre précision et rappel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525661" y="3643685"/>
            <a:ext cx="475679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ROC-AUC OvR pondéré : séparation multiclasses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4754389" y="805979"/>
            <a:ext cx="4024312" cy="3424238"/>
          </a:xfrm>
          <a:prstGeom prst="roundRect">
            <a:avLst>
              <a:gd name="adj" fmla="val 3071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60739" y="1022152"/>
            <a:ext cx="24528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PRIORITÉ OPÉRATIONNELLE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4960739" y="1271138"/>
            <a:ext cx="4641480" cy="60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Pour une alerte, le rappel de la</a:t>
            </a:r>
            <a:endParaRPr lang="en-US" sz="187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87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classe élevée est prioritaire</a:t>
            </a:r>
            <a:endParaRPr lang="en-US" sz="1870" dirty="0"/>
          </a:p>
        </p:txBody>
      </p:sp>
      <p:sp>
        <p:nvSpPr>
          <p:cNvPr id="19" name="Shape 16"/>
          <p:cNvSpPr/>
          <p:nvPr/>
        </p:nvSpPr>
        <p:spPr>
          <a:xfrm>
            <a:off x="4960702" y="2022909"/>
            <a:ext cx="1143000" cy="1023937"/>
          </a:xfrm>
          <a:prstGeom prst="roundRect">
            <a:avLst>
              <a:gd name="adj" fmla="val 7144"/>
            </a:avLst>
          </a:prstGeom>
          <a:solidFill>
            <a:srgbClr val="EEF2F7"/>
          </a:solidFill>
          <a:ln/>
        </p:spPr>
      </p:sp>
      <p:sp>
        <p:nvSpPr>
          <p:cNvPr id="20" name="Text 17"/>
          <p:cNvSpPr/>
          <p:nvPr/>
        </p:nvSpPr>
        <p:spPr>
          <a:xfrm>
            <a:off x="5082198" y="2151757"/>
            <a:ext cx="89993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PRÉCISION</a:t>
            </a:r>
            <a:endParaRPr lang="en-US" sz="970" dirty="0"/>
          </a:p>
        </p:txBody>
      </p:sp>
      <p:sp>
        <p:nvSpPr>
          <p:cNvPr id="21" name="Text 18"/>
          <p:cNvSpPr/>
          <p:nvPr/>
        </p:nvSpPr>
        <p:spPr>
          <a:xfrm>
            <a:off x="4994638" y="2393082"/>
            <a:ext cx="1075127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Alerte</a:t>
            </a:r>
            <a:endParaRPr lang="en-US" sz="144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correcte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6195008" y="2022909"/>
            <a:ext cx="1143000" cy="1023937"/>
          </a:xfrm>
          <a:prstGeom prst="roundRect">
            <a:avLst>
              <a:gd name="adj" fmla="val 7144"/>
            </a:avLst>
          </a:prstGeom>
          <a:solidFill>
            <a:srgbClr val="E2F2F1"/>
          </a:solidFill>
          <a:ln/>
        </p:spPr>
      </p:sp>
      <p:sp>
        <p:nvSpPr>
          <p:cNvPr id="23" name="Text 20"/>
          <p:cNvSpPr/>
          <p:nvPr/>
        </p:nvSpPr>
        <p:spPr>
          <a:xfrm>
            <a:off x="6438878" y="2151757"/>
            <a:ext cx="65518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RAPPEL</a:t>
            </a:r>
            <a:endParaRPr lang="en-US" sz="970" dirty="0"/>
          </a:p>
        </p:txBody>
      </p:sp>
      <p:sp>
        <p:nvSpPr>
          <p:cNvPr id="24" name="Text 21"/>
          <p:cNvSpPr/>
          <p:nvPr/>
        </p:nvSpPr>
        <p:spPr>
          <a:xfrm>
            <a:off x="6234942" y="2393082"/>
            <a:ext cx="1063131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Risque</a:t>
            </a:r>
            <a:endParaRPr lang="en-US" sz="144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retrouvé</a:t>
            </a:r>
            <a:endParaRPr lang="en-US" sz="1440" dirty="0"/>
          </a:p>
        </p:txBody>
      </p:sp>
      <p:sp>
        <p:nvSpPr>
          <p:cNvPr id="25" name="Shape 22"/>
          <p:cNvSpPr/>
          <p:nvPr/>
        </p:nvSpPr>
        <p:spPr>
          <a:xfrm>
            <a:off x="7429314" y="2022909"/>
            <a:ext cx="1143000" cy="1023937"/>
          </a:xfrm>
          <a:prstGeom prst="roundRect">
            <a:avLst>
              <a:gd name="adj" fmla="val 7144"/>
            </a:avLst>
          </a:prstGeom>
          <a:solidFill>
            <a:srgbClr val="FFF4D9"/>
          </a:solidFill>
          <a:ln/>
        </p:spPr>
      </p:sp>
      <p:sp>
        <p:nvSpPr>
          <p:cNvPr id="26" name="Text 23"/>
          <p:cNvSpPr/>
          <p:nvPr/>
        </p:nvSpPr>
        <p:spPr>
          <a:xfrm>
            <a:off x="7897896" y="2151757"/>
            <a:ext cx="20583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A1620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</a:t>
            </a:r>
            <a:endParaRPr lang="en-US" sz="970" dirty="0"/>
          </a:p>
        </p:txBody>
      </p:sp>
      <p:sp>
        <p:nvSpPr>
          <p:cNvPr id="27" name="Text 24"/>
          <p:cNvSpPr/>
          <p:nvPr/>
        </p:nvSpPr>
        <p:spPr>
          <a:xfrm>
            <a:off x="7454458" y="2393082"/>
            <a:ext cx="10926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Équilibre</a:t>
            </a:r>
            <a:endParaRPr lang="en-US" sz="144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739" y="3200623"/>
            <a:ext cx="3611612" cy="82294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0" name="Text 26"/>
          <p:cNvSpPr/>
          <p:nvPr/>
        </p:nvSpPr>
        <p:spPr>
          <a:xfrm>
            <a:off x="8359676" y="4630936"/>
            <a:ext cx="60130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12</a:t>
            </a:r>
            <a:endParaRPr lang="en-US" sz="94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600355" y="222052"/>
            <a:ext cx="96445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RÉSULTATS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701725"/>
            <a:ext cx="374916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 ARRIVE EN TÊTE — DE PEU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861938"/>
            <a:ext cx="9079059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meilleur score ne raconte pas toute l'histoire</a:t>
            </a:r>
            <a:endParaRPr lang="en-US" sz="2560" dirty="0"/>
          </a:p>
        </p:txBody>
      </p:sp>
      <p:sp>
        <p:nvSpPr>
          <p:cNvPr id="10" name="Shape 7"/>
          <p:cNvSpPr/>
          <p:nvPr/>
        </p:nvSpPr>
        <p:spPr>
          <a:xfrm>
            <a:off x="365150" y="1400175"/>
            <a:ext cx="4395787" cy="3162300"/>
          </a:xfrm>
          <a:prstGeom prst="roundRect">
            <a:avLst>
              <a:gd name="adj" fmla="val 332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4219" y="1568760"/>
            <a:ext cx="4057650" cy="252412"/>
          </a:xfrm>
          <a:prstGeom prst="rect">
            <a:avLst/>
          </a:prstGeom>
          <a:ln/>
        </p:spPr>
      </p:sp>
      <p:sp>
        <p:nvSpPr>
          <p:cNvPr id="12" name="Text 9"/>
          <p:cNvSpPr/>
          <p:nvPr/>
        </p:nvSpPr>
        <p:spPr>
          <a:xfrm>
            <a:off x="535037" y="1578694"/>
            <a:ext cx="75569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2048024" y="1578694"/>
            <a:ext cx="98932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2917031" y="1578694"/>
            <a:ext cx="21870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</a:t>
            </a:r>
            <a:endParaRPr lang="en-US" sz="970" dirty="0"/>
          </a:p>
        </p:txBody>
      </p:sp>
      <p:sp>
        <p:nvSpPr>
          <p:cNvPr id="15" name="Text 12"/>
          <p:cNvSpPr/>
          <p:nvPr/>
        </p:nvSpPr>
        <p:spPr>
          <a:xfrm>
            <a:off x="3786039" y="1578694"/>
            <a:ext cx="87478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ROC-AUC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534219" y="1821359"/>
            <a:ext cx="4057650" cy="661987"/>
          </a:xfrm>
          <a:prstGeom prst="rect">
            <a:avLst/>
          </a:prstGeom>
          <a:ln/>
        </p:spPr>
      </p:sp>
      <p:sp>
        <p:nvSpPr>
          <p:cNvPr id="17" name="Text 14"/>
          <p:cNvSpPr/>
          <p:nvPr/>
        </p:nvSpPr>
        <p:spPr>
          <a:xfrm>
            <a:off x="535037" y="1937891"/>
            <a:ext cx="1106470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Régression</a:t>
            </a:r>
            <a:endParaRPr lang="en-US" sz="119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logistique</a:t>
            </a:r>
            <a:endParaRPr lang="en-US" sz="1190" dirty="0"/>
          </a:p>
        </p:txBody>
      </p:sp>
      <p:sp>
        <p:nvSpPr>
          <p:cNvPr id="18" name="Text 15"/>
          <p:cNvSpPr/>
          <p:nvPr/>
        </p:nvSpPr>
        <p:spPr>
          <a:xfrm>
            <a:off x="2048024" y="2051075"/>
            <a:ext cx="59801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0,926</a:t>
            </a:r>
            <a:endParaRPr lang="en-US" sz="1190" dirty="0"/>
          </a:p>
        </p:txBody>
      </p:sp>
      <p:sp>
        <p:nvSpPr>
          <p:cNvPr id="19" name="Text 16"/>
          <p:cNvSpPr/>
          <p:nvPr/>
        </p:nvSpPr>
        <p:spPr>
          <a:xfrm>
            <a:off x="2917031" y="2051075"/>
            <a:ext cx="57740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0,927</a:t>
            </a:r>
            <a:endParaRPr lang="en-US" sz="1190" dirty="0"/>
          </a:p>
        </p:txBody>
      </p:sp>
      <p:sp>
        <p:nvSpPr>
          <p:cNvPr id="20" name="Text 17"/>
          <p:cNvSpPr/>
          <p:nvPr/>
        </p:nvSpPr>
        <p:spPr>
          <a:xfrm>
            <a:off x="3786039" y="2051075"/>
            <a:ext cx="55622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0,991</a:t>
            </a:r>
            <a:endParaRPr lang="en-US" sz="1190" dirty="0"/>
          </a:p>
        </p:txBody>
      </p:sp>
      <p:sp>
        <p:nvSpPr>
          <p:cNvPr id="21" name="Shape 18"/>
          <p:cNvSpPr/>
          <p:nvPr/>
        </p:nvSpPr>
        <p:spPr>
          <a:xfrm>
            <a:off x="534219" y="2483272"/>
            <a:ext cx="4057650" cy="438150"/>
          </a:xfrm>
          <a:prstGeom prst="rect">
            <a:avLst/>
          </a:prstGeom>
          <a:ln/>
        </p:spPr>
      </p:sp>
      <p:sp>
        <p:nvSpPr>
          <p:cNvPr id="22" name="Text 19"/>
          <p:cNvSpPr/>
          <p:nvPr/>
        </p:nvSpPr>
        <p:spPr>
          <a:xfrm>
            <a:off x="535037" y="2601069"/>
            <a:ext cx="149787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</a:t>
            </a:r>
            <a:endParaRPr lang="en-US" sz="1190" dirty="0"/>
          </a:p>
        </p:txBody>
      </p:sp>
      <p:sp>
        <p:nvSpPr>
          <p:cNvPr id="23" name="Text 20"/>
          <p:cNvSpPr/>
          <p:nvPr/>
        </p:nvSpPr>
        <p:spPr>
          <a:xfrm>
            <a:off x="2048024" y="2601069"/>
            <a:ext cx="55622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0,916</a:t>
            </a:r>
            <a:endParaRPr lang="en-US" sz="1190" dirty="0"/>
          </a:p>
        </p:txBody>
      </p:sp>
      <p:sp>
        <p:nvSpPr>
          <p:cNvPr id="24" name="Text 21"/>
          <p:cNvSpPr/>
          <p:nvPr/>
        </p:nvSpPr>
        <p:spPr>
          <a:xfrm>
            <a:off x="2917031" y="2601069"/>
            <a:ext cx="55583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0,918</a:t>
            </a:r>
            <a:endParaRPr lang="en-US" sz="1190" dirty="0"/>
          </a:p>
        </p:txBody>
      </p:sp>
      <p:sp>
        <p:nvSpPr>
          <p:cNvPr id="25" name="Text 22"/>
          <p:cNvSpPr/>
          <p:nvPr/>
        </p:nvSpPr>
        <p:spPr>
          <a:xfrm>
            <a:off x="3786039" y="2601069"/>
            <a:ext cx="62432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0,990</a:t>
            </a:r>
            <a:endParaRPr lang="en-US" sz="1190" dirty="0"/>
          </a:p>
        </p:txBody>
      </p:sp>
      <p:sp>
        <p:nvSpPr>
          <p:cNvPr id="26" name="Shape 23"/>
          <p:cNvSpPr/>
          <p:nvPr/>
        </p:nvSpPr>
        <p:spPr>
          <a:xfrm>
            <a:off x="534219" y="2920082"/>
            <a:ext cx="4057650" cy="433388"/>
          </a:xfrm>
          <a:prstGeom prst="rect">
            <a:avLst/>
          </a:prstGeom>
          <a:solidFill>
            <a:srgbClr val="E2F2F1"/>
          </a:solidFill>
          <a:ln/>
        </p:spPr>
      </p:sp>
      <p:sp>
        <p:nvSpPr>
          <p:cNvPr id="27" name="Text 24"/>
          <p:cNvSpPr/>
          <p:nvPr/>
        </p:nvSpPr>
        <p:spPr>
          <a:xfrm>
            <a:off x="599033" y="3037880"/>
            <a:ext cx="88610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</a:t>
            </a:r>
            <a:endParaRPr lang="en-US" sz="1190" dirty="0"/>
          </a:p>
        </p:txBody>
      </p:sp>
      <p:sp>
        <p:nvSpPr>
          <p:cNvPr id="28" name="Text 25"/>
          <p:cNvSpPr/>
          <p:nvPr/>
        </p:nvSpPr>
        <p:spPr>
          <a:xfrm>
            <a:off x="2048024" y="3037880"/>
            <a:ext cx="57953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0,927</a:t>
            </a:r>
            <a:endParaRPr lang="en-US" sz="1190" dirty="0"/>
          </a:p>
        </p:txBody>
      </p:sp>
      <p:sp>
        <p:nvSpPr>
          <p:cNvPr id="29" name="Text 26"/>
          <p:cNvSpPr/>
          <p:nvPr/>
        </p:nvSpPr>
        <p:spPr>
          <a:xfrm>
            <a:off x="2917031" y="3037880"/>
            <a:ext cx="59859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0,928</a:t>
            </a:r>
            <a:endParaRPr lang="en-US" sz="1190" dirty="0"/>
          </a:p>
        </p:txBody>
      </p:sp>
      <p:sp>
        <p:nvSpPr>
          <p:cNvPr id="30" name="Text 27"/>
          <p:cNvSpPr/>
          <p:nvPr/>
        </p:nvSpPr>
        <p:spPr>
          <a:xfrm>
            <a:off x="3786039" y="3037880"/>
            <a:ext cx="55893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0,991</a:t>
            </a:r>
            <a:endParaRPr lang="en-US" sz="1190" dirty="0"/>
          </a:p>
        </p:txBody>
      </p:sp>
      <p:sp>
        <p:nvSpPr>
          <p:cNvPr id="31" name="Shape 28"/>
          <p:cNvSpPr/>
          <p:nvPr/>
        </p:nvSpPr>
        <p:spPr>
          <a:xfrm>
            <a:off x="5034781" y="1400175"/>
            <a:ext cx="3743325" cy="3162300"/>
          </a:xfrm>
          <a:prstGeom prst="roundRect">
            <a:avLst>
              <a:gd name="adj" fmla="val 3325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222230" y="1597000"/>
            <a:ext cx="11010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 PONDÉRÉ</a:t>
            </a:r>
            <a:endParaRPr lang="en-US" sz="970" dirty="0"/>
          </a:p>
        </p:txBody>
      </p:sp>
      <p:sp>
        <p:nvSpPr>
          <p:cNvPr id="33" name="Text 30"/>
          <p:cNvSpPr/>
          <p:nvPr/>
        </p:nvSpPr>
        <p:spPr>
          <a:xfrm>
            <a:off x="5222230" y="1862137"/>
            <a:ext cx="1599642" cy="561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38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0,928</a:t>
            </a:r>
            <a:endParaRPr lang="en-US" sz="3380" dirty="0"/>
          </a:p>
        </p:txBody>
      </p:sp>
      <p:sp>
        <p:nvSpPr>
          <p:cNvPr id="34" name="Text 31"/>
          <p:cNvSpPr/>
          <p:nvPr/>
        </p:nvSpPr>
        <p:spPr>
          <a:xfrm>
            <a:off x="5222230" y="2499792"/>
            <a:ext cx="389359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Meilleur modèle selon le F1 pondéré : XGBoost</a:t>
            </a:r>
            <a:endParaRPr lang="en-US" sz="1040" dirty="0"/>
          </a:p>
        </p:txBody>
      </p:sp>
      <p:sp>
        <p:nvSpPr>
          <p:cNvPr id="35" name="Text 32"/>
          <p:cNvSpPr/>
          <p:nvPr/>
        </p:nvSpPr>
        <p:spPr>
          <a:xfrm>
            <a:off x="5222230" y="2840682"/>
            <a:ext cx="173517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Régression logistique</a:t>
            </a:r>
            <a:endParaRPr lang="en-US" sz="970" dirty="0"/>
          </a:p>
        </p:txBody>
      </p:sp>
      <p:sp>
        <p:nvSpPr>
          <p:cNvPr id="36" name="Text 33"/>
          <p:cNvSpPr/>
          <p:nvPr/>
        </p:nvSpPr>
        <p:spPr>
          <a:xfrm>
            <a:off x="8261970" y="2840682"/>
            <a:ext cx="48444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0,927</a:t>
            </a:r>
            <a:endParaRPr lang="en-US" sz="970" dirty="0"/>
          </a:p>
        </p:txBody>
      </p:sp>
      <p:sp>
        <p:nvSpPr>
          <p:cNvPr id="37" name="Shape 34"/>
          <p:cNvSpPr/>
          <p:nvPr/>
        </p:nvSpPr>
        <p:spPr>
          <a:xfrm>
            <a:off x="5222900" y="3047963"/>
            <a:ext cx="3367088" cy="85725"/>
          </a:xfrm>
          <a:prstGeom prst="roundRect">
            <a:avLst>
              <a:gd name="adj" fmla="val 48000"/>
            </a:avLst>
          </a:prstGeom>
          <a:solidFill>
            <a:srgbClr val="E2E8F0"/>
          </a:solidFill>
          <a:ln/>
        </p:spPr>
      </p:sp>
      <p:sp>
        <p:nvSpPr>
          <p:cNvPr id="38" name="Shape 35"/>
          <p:cNvSpPr/>
          <p:nvPr/>
        </p:nvSpPr>
        <p:spPr>
          <a:xfrm>
            <a:off x="5221374" y="3047963"/>
            <a:ext cx="3124200" cy="85725"/>
          </a:xfrm>
          <a:prstGeom prst="roundRect">
            <a:avLst>
              <a:gd name="adj" fmla="val 48000"/>
            </a:avLst>
          </a:prstGeom>
          <a:solidFill>
            <a:srgbClr val="0D9488"/>
          </a:solidFill>
          <a:ln/>
        </p:spPr>
      </p:sp>
      <p:sp>
        <p:nvSpPr>
          <p:cNvPr id="39" name="Text 36"/>
          <p:cNvSpPr/>
          <p:nvPr/>
        </p:nvSpPr>
        <p:spPr>
          <a:xfrm>
            <a:off x="5222230" y="3236640"/>
            <a:ext cx="124161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</a:t>
            </a:r>
            <a:endParaRPr lang="en-US" sz="970" dirty="0"/>
          </a:p>
        </p:txBody>
      </p:sp>
      <p:sp>
        <p:nvSpPr>
          <p:cNvPr id="40" name="Text 37"/>
          <p:cNvSpPr/>
          <p:nvPr/>
        </p:nvSpPr>
        <p:spPr>
          <a:xfrm>
            <a:off x="8274918" y="3236640"/>
            <a:ext cx="46761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0,918</a:t>
            </a:r>
            <a:endParaRPr lang="en-US" sz="970" dirty="0"/>
          </a:p>
        </p:txBody>
      </p:sp>
      <p:sp>
        <p:nvSpPr>
          <p:cNvPr id="41" name="Shape 38"/>
          <p:cNvSpPr/>
          <p:nvPr/>
        </p:nvSpPr>
        <p:spPr>
          <a:xfrm>
            <a:off x="5222900" y="3443920"/>
            <a:ext cx="3367088" cy="85725"/>
          </a:xfrm>
          <a:prstGeom prst="roundRect">
            <a:avLst>
              <a:gd name="adj" fmla="val 48000"/>
            </a:avLst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5222900" y="3443920"/>
            <a:ext cx="3090862" cy="85725"/>
          </a:xfrm>
          <a:prstGeom prst="roundRect">
            <a:avLst>
              <a:gd name="adj" fmla="val 48000"/>
            </a:avLst>
          </a:prstGeom>
          <a:solidFill>
            <a:srgbClr val="0D9488"/>
          </a:solidFill>
          <a:ln/>
        </p:spPr>
      </p:sp>
      <p:sp>
        <p:nvSpPr>
          <p:cNvPr id="43" name="Text 40"/>
          <p:cNvSpPr/>
          <p:nvPr/>
        </p:nvSpPr>
        <p:spPr>
          <a:xfrm>
            <a:off x="5222230" y="3632597"/>
            <a:ext cx="73518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</a:t>
            </a:r>
            <a:endParaRPr lang="en-US" sz="970" dirty="0"/>
          </a:p>
        </p:txBody>
      </p:sp>
      <p:sp>
        <p:nvSpPr>
          <p:cNvPr id="44" name="Text 41"/>
          <p:cNvSpPr/>
          <p:nvPr/>
        </p:nvSpPr>
        <p:spPr>
          <a:xfrm>
            <a:off x="8249989" y="3632597"/>
            <a:ext cx="50001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0,928</a:t>
            </a:r>
            <a:endParaRPr lang="en-US" sz="970" dirty="0"/>
          </a:p>
        </p:txBody>
      </p:sp>
      <p:sp>
        <p:nvSpPr>
          <p:cNvPr id="45" name="Shape 42"/>
          <p:cNvSpPr/>
          <p:nvPr/>
        </p:nvSpPr>
        <p:spPr>
          <a:xfrm>
            <a:off x="5222900" y="3839877"/>
            <a:ext cx="3367088" cy="85725"/>
          </a:xfrm>
          <a:prstGeom prst="roundRect">
            <a:avLst>
              <a:gd name="adj" fmla="val 48000"/>
            </a:avLst>
          </a:prstGeom>
          <a:solidFill>
            <a:srgbClr val="E2E8F0"/>
          </a:solidFill>
          <a:ln/>
        </p:spPr>
      </p:sp>
      <p:sp>
        <p:nvSpPr>
          <p:cNvPr id="46" name="Shape 43"/>
          <p:cNvSpPr/>
          <p:nvPr/>
        </p:nvSpPr>
        <p:spPr>
          <a:xfrm>
            <a:off x="5223049" y="3839877"/>
            <a:ext cx="3124200" cy="85725"/>
          </a:xfrm>
          <a:prstGeom prst="roundRect">
            <a:avLst>
              <a:gd name="adj" fmla="val 48000"/>
            </a:avLst>
          </a:prstGeom>
          <a:solidFill>
            <a:srgbClr val="0D9488"/>
          </a:solidFill>
          <a:ln/>
        </p:spPr>
      </p:sp>
      <p:sp>
        <p:nvSpPr>
          <p:cNvPr id="47" name="Text 44"/>
          <p:cNvSpPr/>
          <p:nvPr/>
        </p:nvSpPr>
        <p:spPr>
          <a:xfrm>
            <a:off x="5222230" y="4172099"/>
            <a:ext cx="41316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1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L'écart avec la régression logistique est faible</a:t>
            </a:r>
            <a:endParaRPr lang="en-US" sz="1120" dirty="0"/>
          </a:p>
        </p:txBody>
      </p:sp>
      <p:sp>
        <p:nvSpPr>
          <p:cNvPr id="48" name="Text 45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49" name="Text 46"/>
          <p:cNvSpPr/>
          <p:nvPr/>
        </p:nvSpPr>
        <p:spPr>
          <a:xfrm>
            <a:off x="8356550" y="4630936"/>
            <a:ext cx="6053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13</a:t>
            </a:r>
            <a:endParaRPr lang="en-US" sz="94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219" y="1568760"/>
            <a:ext cx="4057650" cy="252412"/>
          </a:xfrm>
          <a:prstGeom prst="rect">
            <a:avLst/>
          </a:prstGeom>
        </p:spPr>
      </p:pic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219" y="1821359"/>
            <a:ext cx="4057650" cy="661987"/>
          </a:xfrm>
          <a:prstGeom prst="rect">
            <a:avLst/>
          </a:prstGeom>
        </p:spPr>
      </p:pic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4219" y="2483272"/>
            <a:ext cx="4057650" cy="438150"/>
          </a:xfrm>
          <a:prstGeom prst="rect">
            <a:avLst/>
          </a:prstGeom>
        </p:spPr>
      </p:pic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22900" y="4080309"/>
            <a:ext cx="3367088" cy="295275"/>
          </a:xfrm>
          <a:prstGeom prst="rect">
            <a:avLst/>
          </a:prstGeom>
        </p:spPr>
      </p:pic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600355" y="222052"/>
            <a:ext cx="96445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RÉSULTATS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853827"/>
            <a:ext cx="4839891" cy="3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LIRE LES ERREURS AVANT DE DÉCLENCHER UNE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ALERTE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1226641"/>
            <a:ext cx="2913928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confusions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1567458"/>
            <a:ext cx="3829169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moyen ↔ élevé sont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365745" y="1908274"/>
            <a:ext cx="5210398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particulièrement sensibles</a:t>
            </a:r>
            <a:endParaRPr lang="en-US" sz="2560" dirty="0"/>
          </a:p>
        </p:txBody>
      </p:sp>
      <p:sp>
        <p:nvSpPr>
          <p:cNvPr id="12" name="Text 9"/>
          <p:cNvSpPr/>
          <p:nvPr/>
        </p:nvSpPr>
        <p:spPr>
          <a:xfrm>
            <a:off x="525661" y="2291953"/>
            <a:ext cx="4707359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erreurs distinguent les niveaux faible, moyen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 élevé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525661" y="2786881"/>
            <a:ext cx="4240113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faux négatif peut retarder la préparation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 ressources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525661" y="3281809"/>
            <a:ext cx="5202756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matrice de confusion doit être analysée par classe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 par territoire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525661" y="3776737"/>
            <a:ext cx="4127607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rappel de la classe élevée doit guider le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seuil d'alerte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4858308" y="982228"/>
            <a:ext cx="3919537" cy="3071813"/>
          </a:xfrm>
          <a:prstGeom prst="roundRect">
            <a:avLst>
              <a:gd name="adj" fmla="val 3423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045571" y="1180058"/>
            <a:ext cx="321217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MATRICE DE CONFUSION · XGBOOST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5691355" y="1505694"/>
            <a:ext cx="53165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faible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6703587" y="1505694"/>
            <a:ext cx="62664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moyen</a:t>
            </a:r>
            <a:endParaRPr lang="en-US" sz="1040" dirty="0"/>
          </a:p>
        </p:txBody>
      </p:sp>
      <p:sp>
        <p:nvSpPr>
          <p:cNvPr id="20" name="Text 17"/>
          <p:cNvSpPr/>
          <p:nvPr/>
        </p:nvSpPr>
        <p:spPr>
          <a:xfrm>
            <a:off x="7823016" y="1505694"/>
            <a:ext cx="50717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eleve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5045087" y="1764767"/>
            <a:ext cx="366712" cy="438150"/>
          </a:xfrm>
          <a:prstGeom prst="rect">
            <a:avLst/>
          </a:prstGeom>
          <a:ln/>
        </p:spPr>
        <p:txBody>
          <a:bodyPr wrap="square" lIns="0" tIns="0" rIns="0" bIns="0" rtlCol="0" anchor="ctr" vert="eaVert">
            <a:spAutoFit/>
          </a:bodyPr>
          <a:lstStyle/>
          <a:p>
            <a:pPr algn="ctr" indent="0" marL="0">
              <a:lnSpc>
                <a:spcPts val="1566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faible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5442831" y="1764767"/>
            <a:ext cx="1028700" cy="438150"/>
          </a:xfrm>
          <a:prstGeom prst="roundRect">
            <a:avLst>
              <a:gd name="adj" fmla="val 12522"/>
            </a:avLst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5534166" y="1887066"/>
            <a:ext cx="8459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correcte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6502561" y="1764767"/>
            <a:ext cx="1028700" cy="438150"/>
          </a:xfrm>
          <a:prstGeom prst="roundRect">
            <a:avLst>
              <a:gd name="adj" fmla="val 12522"/>
            </a:avLst>
          </a:prstGeom>
          <a:solidFill>
            <a:srgbClr val="DBE7EF"/>
          </a:solidFill>
          <a:ln/>
        </p:spPr>
      </p:sp>
      <p:sp>
        <p:nvSpPr>
          <p:cNvPr id="25" name="Text 22"/>
          <p:cNvSpPr/>
          <p:nvPr/>
        </p:nvSpPr>
        <p:spPr>
          <a:xfrm>
            <a:off x="6759502" y="1893912"/>
            <a:ext cx="51481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écart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7562292" y="1764767"/>
            <a:ext cx="1028700" cy="438150"/>
          </a:xfrm>
          <a:prstGeom prst="roundRect">
            <a:avLst>
              <a:gd name="adj" fmla="val 12522"/>
            </a:avLst>
          </a:prstGeom>
          <a:solidFill>
            <a:srgbClr val="E8F3F2"/>
          </a:solidFill>
          <a:ln/>
        </p:spPr>
      </p:sp>
      <p:sp>
        <p:nvSpPr>
          <p:cNvPr id="27" name="Text 24"/>
          <p:cNvSpPr/>
          <p:nvPr/>
        </p:nvSpPr>
        <p:spPr>
          <a:xfrm>
            <a:off x="7819232" y="1893912"/>
            <a:ext cx="51481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écart</a:t>
            </a:r>
            <a:endParaRPr lang="en-US" sz="1040" dirty="0"/>
          </a:p>
        </p:txBody>
      </p:sp>
      <p:sp>
        <p:nvSpPr>
          <p:cNvPr id="28" name="Text 25"/>
          <p:cNvSpPr/>
          <p:nvPr/>
        </p:nvSpPr>
        <p:spPr>
          <a:xfrm>
            <a:off x="5045087" y="2234840"/>
            <a:ext cx="366712" cy="438150"/>
          </a:xfrm>
          <a:prstGeom prst="rect">
            <a:avLst/>
          </a:prstGeom>
          <a:ln/>
        </p:spPr>
        <p:txBody>
          <a:bodyPr wrap="square" lIns="0" tIns="0" rIns="0" bIns="0" rtlCol="0" anchor="ctr" vert="eaVert">
            <a:spAutoFit/>
          </a:bodyPr>
          <a:lstStyle/>
          <a:p>
            <a:pPr algn="ctr" indent="0" marL="0">
              <a:lnSpc>
                <a:spcPts val="1566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moyen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5442831" y="2234840"/>
            <a:ext cx="1028700" cy="438150"/>
          </a:xfrm>
          <a:prstGeom prst="roundRect">
            <a:avLst>
              <a:gd name="adj" fmla="val 12522"/>
            </a:avLst>
          </a:prstGeom>
          <a:solidFill>
            <a:srgbClr val="E8F3F2"/>
          </a:solidFill>
          <a:ln/>
        </p:spPr>
      </p:sp>
      <p:sp>
        <p:nvSpPr>
          <p:cNvPr id="30" name="Text 27"/>
          <p:cNvSpPr/>
          <p:nvPr/>
        </p:nvSpPr>
        <p:spPr>
          <a:xfrm>
            <a:off x="5699771" y="2363986"/>
            <a:ext cx="51481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écart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6502561" y="2234840"/>
            <a:ext cx="1028700" cy="438150"/>
          </a:xfrm>
          <a:prstGeom prst="roundRect">
            <a:avLst>
              <a:gd name="adj" fmla="val 12522"/>
            </a:avLst>
          </a:prstGeom>
          <a:solidFill>
            <a:srgbClr val="0D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6593897" y="2357140"/>
            <a:ext cx="8459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correcte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7562292" y="2234840"/>
            <a:ext cx="1028700" cy="438150"/>
          </a:xfrm>
          <a:prstGeom prst="roundRect">
            <a:avLst>
              <a:gd name="adj" fmla="val 12522"/>
            </a:avLst>
          </a:prstGeom>
          <a:solidFill>
            <a:srgbClr val="FFF4D9"/>
          </a:solidFill>
          <a:ln/>
        </p:spPr>
      </p:sp>
      <p:sp>
        <p:nvSpPr>
          <p:cNvPr id="34" name="Text 31"/>
          <p:cNvSpPr/>
          <p:nvPr/>
        </p:nvSpPr>
        <p:spPr>
          <a:xfrm>
            <a:off x="7584653" y="2363986"/>
            <a:ext cx="98390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7C5A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surveiller</a:t>
            </a:r>
            <a:endParaRPr lang="en-US" sz="1040" dirty="0"/>
          </a:p>
        </p:txBody>
      </p:sp>
      <p:sp>
        <p:nvSpPr>
          <p:cNvPr id="35" name="Text 32"/>
          <p:cNvSpPr/>
          <p:nvPr/>
        </p:nvSpPr>
        <p:spPr>
          <a:xfrm>
            <a:off x="5045087" y="2704914"/>
            <a:ext cx="366712" cy="438150"/>
          </a:xfrm>
          <a:prstGeom prst="rect">
            <a:avLst/>
          </a:prstGeom>
          <a:ln/>
        </p:spPr>
        <p:txBody>
          <a:bodyPr wrap="square" lIns="0" tIns="0" rIns="0" bIns="0" rtlCol="0" anchor="ctr" vert="eaVert">
            <a:spAutoFit/>
          </a:bodyPr>
          <a:lstStyle/>
          <a:p>
            <a:pPr algn="ctr" indent="0" marL="0">
              <a:lnSpc>
                <a:spcPts val="1566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eleve</a:t>
            </a:r>
            <a:endParaRPr lang="en-US" sz="1040" dirty="0"/>
          </a:p>
        </p:txBody>
      </p:sp>
      <p:sp>
        <p:nvSpPr>
          <p:cNvPr id="36" name="Shape 33"/>
          <p:cNvSpPr/>
          <p:nvPr/>
        </p:nvSpPr>
        <p:spPr>
          <a:xfrm>
            <a:off x="5442831" y="2704914"/>
            <a:ext cx="1028700" cy="438150"/>
          </a:xfrm>
          <a:prstGeom prst="roundRect">
            <a:avLst>
              <a:gd name="adj" fmla="val 12522"/>
            </a:avLst>
          </a:prstGeom>
          <a:solidFill>
            <a:srgbClr val="E8F3F2"/>
          </a:solidFill>
          <a:ln/>
        </p:spPr>
      </p:sp>
      <p:sp>
        <p:nvSpPr>
          <p:cNvPr id="37" name="Text 34"/>
          <p:cNvSpPr/>
          <p:nvPr/>
        </p:nvSpPr>
        <p:spPr>
          <a:xfrm>
            <a:off x="5699771" y="2834060"/>
            <a:ext cx="51481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écart</a:t>
            </a:r>
            <a:endParaRPr lang="en-US" sz="1040" dirty="0"/>
          </a:p>
        </p:txBody>
      </p:sp>
      <p:sp>
        <p:nvSpPr>
          <p:cNvPr id="38" name="Shape 35"/>
          <p:cNvSpPr/>
          <p:nvPr/>
        </p:nvSpPr>
        <p:spPr>
          <a:xfrm>
            <a:off x="6502561" y="2704914"/>
            <a:ext cx="1028700" cy="438150"/>
          </a:xfrm>
          <a:prstGeom prst="roundRect">
            <a:avLst>
              <a:gd name="adj" fmla="val 12522"/>
            </a:avLst>
          </a:prstGeom>
          <a:solidFill>
            <a:srgbClr val="FFF4D9"/>
          </a:solidFill>
          <a:ln/>
        </p:spPr>
      </p:sp>
      <p:sp>
        <p:nvSpPr>
          <p:cNvPr id="39" name="Text 36"/>
          <p:cNvSpPr/>
          <p:nvPr/>
        </p:nvSpPr>
        <p:spPr>
          <a:xfrm>
            <a:off x="6524923" y="2834060"/>
            <a:ext cx="98390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7C5A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surveiller</a:t>
            </a:r>
            <a:endParaRPr lang="en-US" sz="1040" dirty="0"/>
          </a:p>
        </p:txBody>
      </p:sp>
      <p:sp>
        <p:nvSpPr>
          <p:cNvPr id="40" name="Shape 37"/>
          <p:cNvSpPr/>
          <p:nvPr/>
        </p:nvSpPr>
        <p:spPr>
          <a:xfrm>
            <a:off x="7562292" y="2704914"/>
            <a:ext cx="1028700" cy="438150"/>
          </a:xfrm>
          <a:prstGeom prst="roundRect">
            <a:avLst>
              <a:gd name="adj" fmla="val 12522"/>
            </a:avLst>
          </a:prstGeom>
          <a:solidFill>
            <a:srgbClr val="0C9488">
              <a:alpha val="8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653628" y="2827213"/>
            <a:ext cx="8459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correcte</a:t>
            </a:r>
            <a:endParaRPr lang="en-US" sz="1120" dirty="0"/>
          </a:p>
        </p:txBody>
      </p:sp>
      <p:sp>
        <p:nvSpPr>
          <p:cNvPr id="42" name="Shape 39"/>
          <p:cNvSpPr/>
          <p:nvPr/>
        </p:nvSpPr>
        <p:spPr>
          <a:xfrm>
            <a:off x="5045646" y="3287539"/>
            <a:ext cx="109537" cy="109537"/>
          </a:xfrm>
          <a:prstGeom prst="roundRect">
            <a:avLst>
              <a:gd name="adj" fmla="val 20870"/>
            </a:avLst>
          </a:prstGeom>
          <a:solidFill>
            <a:srgbClr val="1E3A5F"/>
          </a:solidFill>
          <a:ln/>
        </p:spPr>
      </p:sp>
      <p:sp>
        <p:nvSpPr>
          <p:cNvPr id="43" name="Text 40"/>
          <p:cNvSpPr/>
          <p:nvPr/>
        </p:nvSpPr>
        <p:spPr>
          <a:xfrm>
            <a:off x="5264944" y="3251374"/>
            <a:ext cx="264064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Diagonal = décisions correctes</a:t>
            </a:r>
            <a:endParaRPr lang="en-US" sz="1040" dirty="0"/>
          </a:p>
        </p:txBody>
      </p:sp>
      <p:sp>
        <p:nvSpPr>
          <p:cNvPr id="44" name="Shape 41"/>
          <p:cNvSpPr/>
          <p:nvPr/>
        </p:nvSpPr>
        <p:spPr>
          <a:xfrm>
            <a:off x="7362006" y="3287539"/>
            <a:ext cx="109537" cy="109537"/>
          </a:xfrm>
          <a:prstGeom prst="roundRect">
            <a:avLst>
              <a:gd name="adj" fmla="val 20870"/>
            </a:avLst>
          </a:prstGeom>
          <a:solidFill>
            <a:srgbClr val="FFF4D9"/>
          </a:solidFill>
          <a:ln/>
        </p:spPr>
      </p:sp>
      <p:sp>
        <p:nvSpPr>
          <p:cNvPr id="45" name="Text 42"/>
          <p:cNvSpPr/>
          <p:nvPr/>
        </p:nvSpPr>
        <p:spPr>
          <a:xfrm>
            <a:off x="7581305" y="3251374"/>
            <a:ext cx="99870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surveiller</a:t>
            </a:r>
            <a:endParaRPr lang="en-US" sz="1040" dirty="0"/>
          </a:p>
        </p:txBody>
      </p:sp>
      <p:sp>
        <p:nvSpPr>
          <p:cNvPr id="46" name="Text 43"/>
          <p:cNvSpPr/>
          <p:nvPr/>
        </p:nvSpPr>
        <p:spPr>
          <a:xfrm>
            <a:off x="5045571" y="3516288"/>
            <a:ext cx="4396829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Schéma de lecture : les valeurs numériques doivent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être recalculées à l'exécution du notebook.</a:t>
            </a:r>
            <a:endParaRPr lang="en-US" sz="1040" dirty="0"/>
          </a:p>
        </p:txBody>
      </p:sp>
      <p:sp>
        <p:nvSpPr>
          <p:cNvPr id="47" name="Text 44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48" name="Text 45"/>
          <p:cNvSpPr/>
          <p:nvPr/>
        </p:nvSpPr>
        <p:spPr>
          <a:xfrm>
            <a:off x="8350969" y="4630936"/>
            <a:ext cx="61262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14</a:t>
            </a:r>
            <a:endParaRPr lang="en-US" sz="940" dirty="0"/>
          </a:p>
        </p:txBody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219727" y="222052"/>
            <a:ext cx="14592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INTERPRÉTATION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1671340"/>
            <a:ext cx="388392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VARIABLES LES PLUS INFLUENTES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1831553"/>
            <a:ext cx="4606074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L'eau stagnante domine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2172370"/>
            <a:ext cx="3721209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signal du modèle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365745" y="2679055"/>
            <a:ext cx="472767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Cette lecture est cohérente avec l'hypothèse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métier, mais une importance de modèle ne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prouve pas une causalité médicale.</a:t>
            </a:r>
            <a:endParaRPr lang="en-US" sz="1330" dirty="0"/>
          </a:p>
        </p:txBody>
      </p:sp>
      <p:sp>
        <p:nvSpPr>
          <p:cNvPr id="12" name="Shape 9"/>
          <p:cNvSpPr/>
          <p:nvPr/>
        </p:nvSpPr>
        <p:spPr>
          <a:xfrm>
            <a:off x="4353185" y="1175072"/>
            <a:ext cx="4424362" cy="2686050"/>
          </a:xfrm>
          <a:prstGeom prst="roundRect">
            <a:avLst>
              <a:gd name="adj" fmla="val 391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40076" y="1372344"/>
            <a:ext cx="360879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IMPORTANCE DES VARIABLES · XGBOOST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4540076" y="1686074"/>
            <a:ext cx="197740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Indice d'eau stagnante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8215610" y="1686074"/>
            <a:ext cx="54471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0,205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4538923" y="1900535"/>
            <a:ext cx="4052887" cy="114300"/>
          </a:xfrm>
          <a:prstGeom prst="roundRect">
            <a:avLst>
              <a:gd name="adj" fmla="val 36000"/>
            </a:avLst>
          </a:prstGeom>
          <a:solidFill>
            <a:srgbClr val="E2E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4538923" y="1900535"/>
            <a:ext cx="4052887" cy="114300"/>
          </a:xfrm>
          <a:prstGeom prst="roundRect">
            <a:avLst>
              <a:gd name="adj" fmla="val 360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4540076" y="2100858"/>
            <a:ext cx="134386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Précipitation 7j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8196486" y="2100858"/>
            <a:ext cx="56957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0,090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4538923" y="2315319"/>
            <a:ext cx="4052887" cy="114300"/>
          </a:xfrm>
          <a:prstGeom prst="roundRect">
            <a:avLst>
              <a:gd name="adj" fmla="val 36000"/>
            </a:avLst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540597" y="2315319"/>
            <a:ext cx="1781175" cy="114300"/>
          </a:xfrm>
          <a:prstGeom prst="roundRect">
            <a:avLst>
              <a:gd name="adj" fmla="val 36000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4540076" y="2515642"/>
            <a:ext cx="253935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Zone climatique montagneux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8196486" y="2515642"/>
            <a:ext cx="56957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0,080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4538923" y="2730103"/>
            <a:ext cx="4052887" cy="114300"/>
          </a:xfrm>
          <a:prstGeom prst="roundRect">
            <a:avLst>
              <a:gd name="adj" fmla="val 36000"/>
            </a:avLst>
          </a:prstGeom>
          <a:solidFill>
            <a:srgbClr val="E2E8F0"/>
          </a:solidFill>
          <a:ln/>
        </p:spPr>
      </p:sp>
      <p:sp>
        <p:nvSpPr>
          <p:cNvPr id="25" name="Shape 22"/>
          <p:cNvSpPr/>
          <p:nvPr/>
        </p:nvSpPr>
        <p:spPr>
          <a:xfrm>
            <a:off x="4539332" y="2730103"/>
            <a:ext cx="1581150" cy="114300"/>
          </a:xfrm>
          <a:prstGeom prst="roundRect">
            <a:avLst>
              <a:gd name="adj" fmla="val 36000"/>
            </a:avLst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4540076" y="2930426"/>
            <a:ext cx="147726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Précipitation 30j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8214792" y="2930426"/>
            <a:ext cx="54577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0,062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4538923" y="3144887"/>
            <a:ext cx="4052887" cy="114300"/>
          </a:xfrm>
          <a:prstGeom prst="roundRect">
            <a:avLst>
              <a:gd name="adj" fmla="val 36000"/>
            </a:avLst>
          </a:prstGeom>
          <a:solidFill>
            <a:srgbClr val="E2E8F0"/>
          </a:solidFill>
          <a:ln/>
        </p:spPr>
      </p:sp>
      <p:sp>
        <p:nvSpPr>
          <p:cNvPr id="29" name="Shape 26"/>
          <p:cNvSpPr/>
          <p:nvPr/>
        </p:nvSpPr>
        <p:spPr>
          <a:xfrm>
            <a:off x="4540411" y="3144887"/>
            <a:ext cx="1214438" cy="114300"/>
          </a:xfrm>
          <a:prstGeom prst="roundRect">
            <a:avLst>
              <a:gd name="adj" fmla="val 36000"/>
            </a:avLst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4540076" y="3345210"/>
            <a:ext cx="236155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Région administrative Labé</a:t>
            </a:r>
            <a:endParaRPr lang="en-US" sz="1040" dirty="0"/>
          </a:p>
        </p:txBody>
      </p:sp>
      <p:sp>
        <p:nvSpPr>
          <p:cNvPr id="31" name="Text 28"/>
          <p:cNvSpPr/>
          <p:nvPr/>
        </p:nvSpPr>
        <p:spPr>
          <a:xfrm>
            <a:off x="8207053" y="3345210"/>
            <a:ext cx="55583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0,043</a:t>
            </a:r>
            <a:endParaRPr lang="en-US" sz="1040" dirty="0"/>
          </a:p>
        </p:txBody>
      </p:sp>
      <p:sp>
        <p:nvSpPr>
          <p:cNvPr id="32" name="Shape 29"/>
          <p:cNvSpPr/>
          <p:nvPr/>
        </p:nvSpPr>
        <p:spPr>
          <a:xfrm>
            <a:off x="4538923" y="3559671"/>
            <a:ext cx="4052887" cy="114300"/>
          </a:xfrm>
          <a:prstGeom prst="roundRect">
            <a:avLst>
              <a:gd name="adj" fmla="val 36000"/>
            </a:avLst>
          </a:prstGeom>
          <a:solidFill>
            <a:srgbClr val="E2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539109" y="3559671"/>
            <a:ext cx="852488" cy="114300"/>
          </a:xfrm>
          <a:prstGeom prst="roundRect">
            <a:avLst>
              <a:gd name="adj" fmla="val 36000"/>
            </a:avLst>
          </a:prstGeom>
          <a:solidFill>
            <a:srgbClr val="0D9488"/>
          </a:solidFill>
          <a:ln/>
        </p:spPr>
      </p:sp>
      <p:sp>
        <p:nvSpPr>
          <p:cNvPr id="34" name="Text 31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5" name="Text 32"/>
          <p:cNvSpPr/>
          <p:nvPr/>
        </p:nvSpPr>
        <p:spPr>
          <a:xfrm>
            <a:off x="8354467" y="4630936"/>
            <a:ext cx="6080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15</a:t>
            </a:r>
            <a:endParaRPr lang="en-US" sz="94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219727" y="222052"/>
            <a:ext cx="14592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INTERPRÉTATION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2080543"/>
            <a:ext cx="303194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QUE LE MODÈLE SUGGÈRE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2240756"/>
            <a:ext cx="5156999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 hypothèses utiles, pas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2581573"/>
            <a:ext cx="4949979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 certitudes médicales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4914751" y="647328"/>
            <a:ext cx="4987223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L'accumulation de pluie et l'eau stagnante séparent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fortement les classes simulées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4914751" y="1142256"/>
            <a:ext cx="4980451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L'humidité et le contexte géographique complètent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signal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4914751" y="1637184"/>
            <a:ext cx="4133217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variables peuvent aider à formuler des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hypothèses de collecte réelle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4914751" y="2132112"/>
            <a:ext cx="4431752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Elles ne doivent pas classer une population ni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déclencher seules une intervention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4914751" y="2627040"/>
            <a:ext cx="4796649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simplicité et l'explicabilité restent importantes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3341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face à un gain marginal de score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4754389" y="3197423"/>
            <a:ext cx="4024312" cy="1190625"/>
          </a:xfrm>
          <a:prstGeom prst="roundRect">
            <a:avLst>
              <a:gd name="adj" fmla="val 8832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24127" y="3375347"/>
            <a:ext cx="214543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LECTURE RESPONSABLE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4924127" y="3597622"/>
            <a:ext cx="41298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30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modèle organise une vigilance ; il ne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24127" y="3803377"/>
            <a:ext cx="4397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30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remplace pas le jugement des acteurs de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24127" y="4009132"/>
            <a:ext cx="7057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30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santé.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8352904" y="4630936"/>
            <a:ext cx="6101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16</a:t>
            </a:r>
            <a:endParaRPr lang="en-US" sz="94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6952134" y="222052"/>
            <a:ext cx="180714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PROCHAINES ÉTAPES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727397"/>
            <a:ext cx="57313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RECOMMANDATIONS POUR PASSER À L'ÉTAPE SUIVANTE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887611"/>
            <a:ext cx="9526570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 prototype analytique à une décision encadrée</a:t>
            </a:r>
            <a:endParaRPr lang="en-US" sz="2560" dirty="0"/>
          </a:p>
        </p:txBody>
      </p:sp>
      <p:sp>
        <p:nvSpPr>
          <p:cNvPr id="10" name="Shape 7"/>
          <p:cNvSpPr/>
          <p:nvPr/>
        </p:nvSpPr>
        <p:spPr>
          <a:xfrm>
            <a:off x="364778" y="1503090"/>
            <a:ext cx="2714625" cy="1343025"/>
          </a:xfrm>
          <a:prstGeom prst="roundRect">
            <a:avLst>
              <a:gd name="adj" fmla="val 7830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5884" y="1681907"/>
            <a:ext cx="37667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5884" y="2081733"/>
            <a:ext cx="7556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2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Valider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25884" y="2336899"/>
            <a:ext cx="3068419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Avec des données sanitaires réelles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 datées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3214650" y="1503090"/>
            <a:ext cx="2714625" cy="1343025"/>
          </a:xfrm>
          <a:prstGeom prst="roundRect">
            <a:avLst>
              <a:gd name="adj" fmla="val 7830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75720" y="1681907"/>
            <a:ext cx="43742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375720" y="2081733"/>
            <a:ext cx="829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2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Enrichir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3375720" y="2336899"/>
            <a:ext cx="2895548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Consultations, campagnes, accès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aux soins, densité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6064560" y="1503090"/>
            <a:ext cx="2714625" cy="1343025"/>
          </a:xfrm>
          <a:prstGeom prst="roundRect">
            <a:avLst>
              <a:gd name="adj" fmla="val 7830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25629" y="1681907"/>
            <a:ext cx="44681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25629" y="2081733"/>
            <a:ext cx="5379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2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Seuil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6225629" y="2336899"/>
            <a:ext cx="2481895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Définir selon le coût des faux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négatifs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364778" y="2984004"/>
            <a:ext cx="2714625" cy="1343025"/>
          </a:xfrm>
          <a:prstGeom prst="roundRect">
            <a:avLst>
              <a:gd name="adj" fmla="val 7830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25884" y="3162821"/>
            <a:ext cx="4616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25884" y="3562648"/>
            <a:ext cx="10609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2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Comparer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525884" y="3817813"/>
            <a:ext cx="239134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 région et par préfecture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3214650" y="2984004"/>
            <a:ext cx="2714625" cy="1343025"/>
          </a:xfrm>
          <a:prstGeom prst="roundRect">
            <a:avLst>
              <a:gd name="adj" fmla="val 7830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375720" y="3162821"/>
            <a:ext cx="45184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375720" y="3562648"/>
            <a:ext cx="13031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2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Documenter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3375720" y="3817813"/>
            <a:ext cx="2969262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version des données et du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6064560" y="2984004"/>
            <a:ext cx="2714625" cy="1343025"/>
          </a:xfrm>
          <a:prstGeom prst="roundRect">
            <a:avLst>
              <a:gd name="adj" fmla="val 7830"/>
            </a:avLst>
          </a:prstGeom>
          <a:solidFill>
            <a:srgbClr val="E2F2F1">
              <a:alpha val="75000"/>
            </a:srgbClr>
          </a:solidFill>
          <a:ln w="4763">
            <a:solidFill>
              <a:srgbClr val="0D9488">
                <a:alpha val="22000"/>
              </a:srgbClr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225629" y="3162821"/>
            <a:ext cx="4554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225629" y="3562648"/>
            <a:ext cx="10332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220" b="1" dirty="0">
                <a:solidFill>
                  <a:srgbClr val="1E3A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Visualiser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6225629" y="3817813"/>
            <a:ext cx="3127720" cy="348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Tableau de bord avec date de mise à</a:t>
            </a:r>
            <a:endParaRPr lang="en-US" sz="1040" dirty="0"/>
          </a:p>
          <a:p>
            <a:pPr algn="l" indent="0" marL="0">
              <a:lnSpc>
                <a:spcPts val="1357"/>
              </a:lnSpc>
              <a:buNone/>
            </a:pPr>
            <a:r>
              <a:rPr lang="en-US" sz="104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 visible</a:t>
            </a:r>
            <a:endParaRPr lang="en-US" sz="1040" dirty="0"/>
          </a:p>
        </p:txBody>
      </p:sp>
      <p:sp>
        <p:nvSpPr>
          <p:cNvPr id="34" name="Text 31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35" name="Text 32"/>
          <p:cNvSpPr/>
          <p:nvPr/>
        </p:nvSpPr>
        <p:spPr>
          <a:xfrm>
            <a:off x="8364513" y="4630936"/>
            <a:ext cx="59501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17</a:t>
            </a:r>
            <a:endParaRPr lang="en-US" sz="94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6536"/>
            <a:ext cx="8410575" cy="30480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861" y="219373"/>
            <a:ext cx="171450" cy="17145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91440" dist="36576" dir="5400000">
              <a:srgbClr val="0D948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577" y="215205"/>
            <a:ext cx="134686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spc="21" kern="0" dirty="0">
                <a:solidFill>
                  <a:srgbClr val="F7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PALUDISME.GN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7435528" y="222052"/>
            <a:ext cx="117873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C7D5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8453661" y="222052"/>
            <a:ext cx="479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39" kern="0" dirty="0">
                <a:solidFill>
                  <a:srgbClr val="C7D5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2025</a:t>
            </a:r>
            <a:endParaRPr lang="en-US" sz="970" dirty="0"/>
          </a:p>
        </p:txBody>
      </p:sp>
      <p:sp>
        <p:nvSpPr>
          <p:cNvPr id="8" name="Text 5"/>
          <p:cNvSpPr/>
          <p:nvPr/>
        </p:nvSpPr>
        <p:spPr>
          <a:xfrm>
            <a:off x="365745" y="1526381"/>
            <a:ext cx="359196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89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LIMITES, ÉTHIQUE ET CONCLUSION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365745" y="1686595"/>
            <a:ext cx="4464643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qualité du protocole</a:t>
            </a:r>
            <a:endParaRPr lang="en-US" sz="2560" dirty="0"/>
          </a:p>
        </p:txBody>
      </p:sp>
      <p:sp>
        <p:nvSpPr>
          <p:cNvPr id="10" name="Text 7"/>
          <p:cNvSpPr/>
          <p:nvPr/>
        </p:nvSpPr>
        <p:spPr>
          <a:xfrm>
            <a:off x="365745" y="2027411"/>
            <a:ext cx="3148132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compte avant la</a:t>
            </a:r>
            <a:endParaRPr lang="en-US" sz="2560" dirty="0"/>
          </a:p>
        </p:txBody>
      </p:sp>
      <p:sp>
        <p:nvSpPr>
          <p:cNvPr id="11" name="Text 8"/>
          <p:cNvSpPr/>
          <p:nvPr/>
        </p:nvSpPr>
        <p:spPr>
          <a:xfrm>
            <a:off x="365745" y="2368228"/>
            <a:ext cx="4356973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complexité du modèle</a:t>
            </a:r>
            <a:endParaRPr lang="en-US" sz="2560" dirty="0"/>
          </a:p>
        </p:txBody>
      </p:sp>
      <p:sp>
        <p:nvSpPr>
          <p:cNvPr id="12" name="Shape 9"/>
          <p:cNvSpPr/>
          <p:nvPr/>
        </p:nvSpPr>
        <p:spPr>
          <a:xfrm>
            <a:off x="364778" y="2905609"/>
            <a:ext cx="733425" cy="1905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45" y="3057451"/>
            <a:ext cx="5731914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DBE7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Prochaine étape : remplacer les données synthétiques,</a:t>
            </a:r>
            <a:endParaRPr lang="en-US" sz="133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330" dirty="0">
                <a:solidFill>
                  <a:srgbClr val="DBE7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recalibrer et évaluer sur le terrain</a:t>
            </a:r>
            <a:endParaRPr lang="en-US" sz="1330" dirty="0"/>
          </a:p>
        </p:txBody>
      </p:sp>
      <p:sp>
        <p:nvSpPr>
          <p:cNvPr id="14" name="Shape 11"/>
          <p:cNvSpPr/>
          <p:nvPr/>
        </p:nvSpPr>
        <p:spPr>
          <a:xfrm>
            <a:off x="5157974" y="667903"/>
            <a:ext cx="3619500" cy="3700463"/>
          </a:xfrm>
          <a:prstGeom prst="roundRect">
            <a:avLst>
              <a:gd name="adj" fmla="val 2905"/>
            </a:avLst>
          </a:prstGeom>
          <a:solidFill>
            <a:srgbClr val="FFFFFF">
              <a:alpha val="88000"/>
            </a:srgbClr>
          </a:solidFill>
          <a:ln w="4763">
            <a:solidFill>
              <a:srgbClr val="DBE4EC"/>
            </a:solidFill>
            <a:prstDash val="solid"/>
          </a:ln>
          <a:effectLst>
            <a:outerShdw sx="100000" sy="100000" kx="0" ky="0" algn="bl" rotWithShape="0" blurRad="164592" dist="64008" dir="5400000">
              <a:srgbClr val="1E3A5F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44790" y="865361"/>
            <a:ext cx="276321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68" kern="0" dirty="0">
                <a:solidFill>
                  <a:srgbClr val="0D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GARDE-FOUS INDISPENSABLES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5504706" y="1040978"/>
            <a:ext cx="4037737" cy="6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CSV est synthétique : les scores ne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sont pas une estimation épidémiologique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réelle</a:t>
            </a:r>
            <a:endParaRPr lang="en-US" sz="1240" dirty="0"/>
          </a:p>
        </p:txBody>
      </p:sp>
      <p:sp>
        <p:nvSpPr>
          <p:cNvPr id="17" name="Text 14"/>
          <p:cNvSpPr/>
          <p:nvPr/>
        </p:nvSpPr>
        <p:spPr>
          <a:xfrm>
            <a:off x="5504706" y="1743521"/>
            <a:ext cx="3809725" cy="6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Aucun diagnostic individuel ni décision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automatique ne doit être fondé sur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modèle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5504706" y="2446065"/>
            <a:ext cx="3205884" cy="41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données réelles devront être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protégées et dé-identifiées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5504706" y="2940993"/>
            <a:ext cx="3598352" cy="6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indicateurs et seuils doivent être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validés par des professionnels de</a:t>
            </a:r>
            <a:endParaRPr lang="en-US" sz="1240" dirty="0"/>
          </a:p>
          <a:p>
            <a:pPr algn="l" indent="0" marL="0">
              <a:lnSpc>
                <a:spcPts val="1635"/>
              </a:lnSpc>
              <a:buNone/>
            </a:pPr>
            <a:r>
              <a:rPr lang="en-US" sz="1240" dirty="0">
                <a:solidFill>
                  <a:srgbClr val="E5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santé publique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5344790" y="3778597"/>
            <a:ext cx="389369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Université Kofi Annan de Guinée · Master 1 —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Fouille de données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65745" y="4630936"/>
            <a:ext cx="21102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Étude synthétique · Guinée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6921847" y="4630936"/>
            <a:ext cx="247048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Université Kofi Annan de Guinée</a:t>
            </a:r>
            <a:endParaRPr lang="en-US" sz="94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536"/>
            <a:ext cx="8410575" cy="30480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3711" y="3686175"/>
            <a:ext cx="3248025" cy="49530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523742"/>
            <a:ext cx="8410575" cy="276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2026-08-12T22:47:52Z</dcterms:created>
  <dcterms:modified xsi:type="dcterms:W3CDTF">2026-08-12T22:47:52Z</dcterms:modified>
</cp:coreProperties>
</file>